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b565cc148c44a6" /><Relationship Type="http://schemas.openxmlformats.org/officeDocument/2006/relationships/extended-properties" Target="/docProps/app.xml" Id="Rf673fb169a6444f5" /><Relationship Type="http://schemas.openxmlformats.org/officeDocument/2006/relationships/officeDocument" Target="/ppt/presentation.xml" Id="R419f83ef4c6d4121" /></Relationships>
</file>

<file path=ppt/presentation.xml><?xml version="1.0" encoding="utf-8"?>
<p:presentation xmlns:p="http://schemas.openxmlformats.org/presentationml/2006/main">
  <p:sldMasterIdLst>
    <p:sldMasterId xmlns:r="http://schemas.openxmlformats.org/officeDocument/2006/relationships" id="2147483648" r:id="Rc13889c717a041ad"/>
  </p:sldMasterIdLst>
  <p:notesMasterIdLst>
    <p:notesMasterId xmlns:r="http://schemas.openxmlformats.org/officeDocument/2006/relationships" r:id="R5455a03a7c0b4d79"/>
  </p:notesMasterIdLst>
  <p:sldIdLst>
    <p:sldId xmlns:r="http://schemas.openxmlformats.org/officeDocument/2006/relationships" id="256" r:id="R18d5b49d70fa4e5d"/>
    <p:sldId xmlns:r="http://schemas.openxmlformats.org/officeDocument/2006/relationships" id="257" r:id="Reba2bf6f484e46a8"/>
    <p:sldId xmlns:r="http://schemas.openxmlformats.org/officeDocument/2006/relationships" id="258" r:id="R5844b52ee15e4830"/>
    <p:sldId xmlns:r="http://schemas.openxmlformats.org/officeDocument/2006/relationships" id="259" r:id="R65e147ebbb8e4227"/>
    <p:sldId xmlns:r="http://schemas.openxmlformats.org/officeDocument/2006/relationships" id="260" r:id="R50c47629a5a94b28"/>
    <p:sldId xmlns:r="http://schemas.openxmlformats.org/officeDocument/2006/relationships" id="261" r:id="R3b422edeb84f4834"/>
    <p:sldId xmlns:r="http://schemas.openxmlformats.org/officeDocument/2006/relationships" id="262" r:id="Rb2ab702c6628400f"/>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13889c717a041ad" /><Relationship Type="http://schemas.openxmlformats.org/officeDocument/2006/relationships/theme" Target="/ppt/theme/theme1.xml" Id="R7f634126f6c748e6" /><Relationship Type="http://schemas.openxmlformats.org/officeDocument/2006/relationships/notesMaster" Target="/ppt/notesMasters/notesMaster1.xml" Id="R5455a03a7c0b4d79" /><Relationship Type="http://schemas.openxmlformats.org/officeDocument/2006/relationships/presProps" Target="/ppt/presProps.xml" Id="Rd72612d7d05c4e52" /><Relationship Type="http://schemas.openxmlformats.org/officeDocument/2006/relationships/viewProps" Target="/ppt/viewProps.xml" Id="R1cb88e372dc24a85" /><Relationship Type="http://schemas.openxmlformats.org/officeDocument/2006/relationships/tableStyles" Target="/ppt/tableStyles.xml" Id="Rc06be31d2172423b" /><Relationship Type="http://schemas.openxmlformats.org/officeDocument/2006/relationships/slide" Target="/ppt/slides/slide1.xml" Id="R18d5b49d70fa4e5d" /><Relationship Type="http://schemas.openxmlformats.org/officeDocument/2006/relationships/slide" Target="/ppt/slides/slide2.xml" Id="Reba2bf6f484e46a8" /><Relationship Type="http://schemas.openxmlformats.org/officeDocument/2006/relationships/slide" Target="/ppt/slides/slide3.xml" Id="R5844b52ee15e4830" /><Relationship Type="http://schemas.openxmlformats.org/officeDocument/2006/relationships/slide" Target="/ppt/slides/slide4.xml" Id="R65e147ebbb8e4227" /><Relationship Type="http://schemas.openxmlformats.org/officeDocument/2006/relationships/slide" Target="/ppt/slides/slide5.xml" Id="R50c47629a5a94b28" /><Relationship Type="http://schemas.openxmlformats.org/officeDocument/2006/relationships/slide" Target="/ppt/slides/slide6.xml" Id="R3b422edeb84f4834" /><Relationship Type="http://schemas.openxmlformats.org/officeDocument/2006/relationships/slide" Target="/ppt/slides/slide7.xml" Id="Rb2ab702c662840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bac45d1755343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a738c41de94e1b" /><Relationship Type="http://schemas.openxmlformats.org/officeDocument/2006/relationships/notesMaster" Target="/ppt/notesMasters/notesMaster1.xml" Id="R35b51fc9d9bb41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d62e8b0c0245c0" /><Relationship Type="http://schemas.openxmlformats.org/officeDocument/2006/relationships/notesMaster" Target="/ppt/notesMasters/notesMaster1.xml" Id="R62e186a55c2143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e24aebba8748f7" /><Relationship Type="http://schemas.openxmlformats.org/officeDocument/2006/relationships/notesMaster" Target="/ppt/notesMasters/notesMaster1.xml" Id="R9cc265f2c9864f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1e1607dfca4486" /><Relationship Type="http://schemas.openxmlformats.org/officeDocument/2006/relationships/notesMaster" Target="/ppt/notesMasters/notesMaster1.xml" Id="R4600f090e908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203942e7c142be" /><Relationship Type="http://schemas.openxmlformats.org/officeDocument/2006/relationships/notesMaster" Target="/ppt/notesMasters/notesMaster1.xml" Id="R797addda0f4d48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f3fea9cc074893" /><Relationship Type="http://schemas.openxmlformats.org/officeDocument/2006/relationships/notesMaster" Target="/ppt/notesMasters/notesMaster1.xml" Id="R38ad8d053ec944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35ed07ac234538" /><Relationship Type="http://schemas.openxmlformats.org/officeDocument/2006/relationships/notesMaster" Target="/ppt/notesMasters/notesMaster1.xml" Id="Rbe3810566400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called "U.S. Retail Gasoline Price Forecast."</a:t>
            </a:r>
          </a:p>
          <a:p xmlns:a="http://schemas.openxmlformats.org/drawingml/2006/main">
            <a:r>
              <a:t/>
            </a:r>
          </a:p>
          <a:p xmlns:a="http://schemas.openxmlformats.org/drawingml/2006/main">
            <a:r>
              <a:t>The goal is to build a full stack data science application, not just a model in a notebook. The app collects weekly U.S. gasoline price data from the EIA, turns that time series into model features, trains two forecasting models, and then serves predictions through a Flask API. A separate Streamlit dashboard calls that API so users can choose the forecasting method and forecast horizon interactively.</a:t>
            </a:r>
          </a:p>
          <a:p xmlns:a="http://schemas.openxmlformats.org/drawingml/2006/main">
            <a:r>
              <a:t/>
            </a:r>
          </a:p>
          <a:p xmlns:a="http://schemas.openxmlformats.org/drawingml/2006/main">
            <a:r>
              <a:t>The current dataset has 1,729 weekly observations from 1993 through May 18, 2026. I serve two models, XGBoost and SARIMA, and the final project is deployed as two live services: one Cloud Run service for the Flask model API and another Cloud Run service for the Streamlit interface.</a:t>
            </a:r>
          </a:p>
          <a:p xmlns:a="http://schemas.openxmlformats.org/drawingml/2006/main">
            <a:r>
              <a:t/>
            </a:r>
          </a:p>
          <a:p xmlns:a="http://schemas.openxmlformats.org/drawingml/2006/main">
            <a:r>
              <a:t>The important idea on this slide is that the project follows the production-style requirement from class: the app and the model API are hosted separately, and the user interface communicates with the model through an API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gasoline prices are familiar, visible, and volatile. Most people understand the impact of gas prices, but it is hard to look at a raw weekly table and get an intuitive sense of where prices may move in the short term.</a:t>
            </a:r>
          </a:p>
          <a:p xmlns:a="http://schemas.openxmlformats.org/drawingml/2006/main">
            <a:r>
              <a:t/>
            </a:r>
          </a:p>
          <a:p xmlns:a="http://schemas.openxmlformats.org/drawingml/2006/main">
            <a:r>
              <a:t>In this dataset, the lowest historical national weekly price is about 94.9 cents per gallon, while the highest is about 5.107 dollars per gallon. The latest observation in my snapshot is 4.621 dollars per gallon for May 18, 2026. That range shows why this is a useful forecasting problem: the target variable can move a lot over time, and even short-term changes matter for planning.</a:t>
            </a:r>
          </a:p>
          <a:p xmlns:a="http://schemas.openxmlformats.org/drawingml/2006/main">
            <a:r>
              <a:t/>
            </a:r>
          </a:p>
          <a:p xmlns:a="http://schemas.openxmlformats.org/drawingml/2006/main">
            <a:r>
              <a:t>The user problem I wanted to solve is not just "can we train a model?" It is "can someone interact with the model easily?" So the app lets a user select XGBoost or SARIMA, choose a forecast horizon, and get a chart and table back from the deployed model API.</a:t>
            </a:r>
          </a:p>
          <a:p xmlns:a="http://schemas.openxmlformats.org/drawingml/2006/main">
            <a:r>
              <a:t/>
            </a:r>
          </a:p>
          <a:p xmlns:a="http://schemas.openxmlformats.org/drawingml/2006/main">
            <a:r>
              <a:t>My project objectives were three things: first, collect and process real public data; second, compare more than one forecasting approach; and third, deploy the app and API separately so the architecture looks like a real data product rather than a local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data pipeline.</a:t>
            </a:r>
          </a:p>
          <a:p xmlns:a="http://schemas.openxmlformats.org/drawingml/2006/main">
            <a:r>
              <a:t/>
            </a:r>
          </a:p>
          <a:p xmlns:a="http://schemas.openxmlformats.org/drawingml/2006/main">
            <a:r>
              <a:t>The data source is the EIA Open Data API, specifically weekly U.S. retail gasoline prices. The project also has a synthetic fallback for testing or local runs without an API key, but the final data snapshot uses the real EIA series.</a:t>
            </a:r>
          </a:p>
          <a:p xmlns:a="http://schemas.openxmlformats.org/drawingml/2006/main">
            <a:r>
              <a:t/>
            </a:r>
          </a:p>
          <a:p xmlns:a="http://schemas.openxmlformats.org/drawingml/2006/main">
            <a:r>
              <a:t>After collection, the raw data is cleaned into a simple weekly table. The pipeline sorts by date, converts price values to numeric format, removes duplicate weeks, and saves a raw CSV snapshot. Keeping that raw snapshot is useful because the deployed API can serve forecasts from the same data version that the models were trained on.</a:t>
            </a:r>
          </a:p>
          <a:p xmlns:a="http://schemas.openxmlformats.org/drawingml/2006/main">
            <a:r>
              <a:t/>
            </a:r>
          </a:p>
          <a:p xmlns:a="http://schemas.openxmlformats.org/drawingml/2006/main">
            <a:r>
              <a:t>For feature engineering, I keep the model frame intentionally explainable. The XGBoost model uses lag features at 1, 2, 4, 8, and 52 weeks. Those lags represent recent level, short-term momentum, and yearly seasonality. I also include month and ISO week features to represent calendar patterns.</a:t>
            </a:r>
          </a:p>
          <a:p xmlns:a="http://schemas.openxmlformats.org/drawingml/2006/main">
            <a:r>
              <a:t/>
            </a:r>
          </a:p>
          <a:p xmlns:a="http://schemas.openxmlformats.org/drawingml/2006/main">
            <a:r>
              <a:t>This matters because gasoline prices have both short-term movement and seasonal structure. Rather than adding many hard-to-explain variables, I wanted a compact feature set that I could explain clearly during the presentation.</a:t>
            </a:r>
          </a:p>
          <a:p xmlns:a="http://schemas.openxmlformats.org/drawingml/2006/main">
            <a:r>
              <a:t/>
            </a:r>
          </a:p>
          <a:p xmlns:a="http://schemas.openxmlformats.org/drawingml/2006/main">
            <a:r>
              <a:t>The final dataset contains 1,729 rows spanning April 5, 1993 through May 18,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trained and evaluated two forecasting approaches: XGBoost and SARIMA.</a:t>
            </a:r>
          </a:p>
          <a:p xmlns:a="http://schemas.openxmlformats.org/drawingml/2006/main">
            <a:r>
              <a:t/>
            </a:r>
          </a:p>
          <a:p xmlns:a="http://schemas.openxmlformats.org/drawingml/2006/main">
            <a:r>
              <a:t>XGBoost is the default model in the app. It uses the lag and calendar features from the previous slide, and it forecasts recursively. That means for a multi-week forecast, the model predicts the next week, feeds that prediction back into the lag features, and continues forward for the selected horizon.</a:t>
            </a:r>
          </a:p>
          <a:p xmlns:a="http://schemas.openxmlformats.org/drawingml/2006/main">
            <a:r>
              <a:t/>
            </a:r>
          </a:p>
          <a:p xmlns:a="http://schemas.openxmlformats.org/drawingml/2006/main">
            <a:r>
              <a:t>SARIMA is my baseline time-series model. It is a univariate seasonal model using the specification SARIMA(1,1,1)(1,1,1,52). The seasonal period of 52 is chosen because the data is weekly and gasoline prices often show annual seasonality.</a:t>
            </a:r>
          </a:p>
          <a:p xmlns:a="http://schemas.openxmlformats.org/drawingml/2006/main">
            <a:r>
              <a:t/>
            </a:r>
          </a:p>
          <a:p xmlns:a="http://schemas.openxmlformats.org/drawingml/2006/main">
            <a:r>
              <a:t>For evaluation, I used a 52-week holdout window. XGBoost performed better on this holdout. Its MAE is about 0.0579 dollars per gallon and RMSE is about 0.1004. SARIMA's MAE is about 0.2386 and RMSE is about 0.4217.</a:t>
            </a:r>
          </a:p>
          <a:p xmlns:a="http://schemas.openxmlformats.org/drawingml/2006/main">
            <a:r>
              <a:t/>
            </a:r>
          </a:p>
          <a:p xmlns:a="http://schemas.openxmlformats.org/drawingml/2006/main">
            <a:r>
              <a:t>The main interpretation is that recent lagged prices carry a strong short-term signal. SARIMA gives a useful time-series baseline, but in this project the lag-based XGBoost model captured the short-term structure better. That is why XGBoost is the default option in the deployed app, while SARIMA remains available for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deployed architecture.</a:t>
            </a:r>
          </a:p>
          <a:p xmlns:a="http://schemas.openxmlformats.org/drawingml/2006/main">
            <a:r>
              <a:t/>
            </a:r>
          </a:p>
          <a:p xmlns:a="http://schemas.openxmlformats.org/drawingml/2006/main">
            <a:r>
              <a:t>The data starts at the EIA API and is saved as a raw CSV snapshot. Then the training pipeline creates the model artifacts, including the XGBoost model and a compact SARIMA representation. Those files are packaged into the API container.</a:t>
            </a:r>
          </a:p>
          <a:p xmlns:a="http://schemas.openxmlformats.org/drawingml/2006/main">
            <a:r>
              <a:t/>
            </a:r>
          </a:p>
          <a:p xmlns:a="http://schemas.openxmlformats.org/drawingml/2006/main">
            <a:r>
              <a:t>At runtime, the Flask API exposes endpoints such as /health, /metadata, and /predict. The Streamlit app is a separate Cloud Run service. It does not load the model directly. Instead, it sends a POST request to the Flask API and receives forecast JSON back.</a:t>
            </a:r>
          </a:p>
          <a:p xmlns:a="http://schemas.openxmlformats.org/drawingml/2006/main">
            <a:r>
              <a:t/>
            </a:r>
          </a:p>
          <a:p xmlns:a="http://schemas.openxmlformats.org/drawingml/2006/main">
            <a:r>
              <a:t>I deployed the two services separately on Google Cloud Run. This was important for the course requirement, but it is also a better architecture. The UI can change without rebuilding the model API, and the API can be tested directly with tools like curl or Postman.</a:t>
            </a:r>
          </a:p>
          <a:p xmlns:a="http://schemas.openxmlformats.org/drawingml/2006/main">
            <a:r>
              <a:t/>
            </a:r>
          </a:p>
          <a:p xmlns:a="http://schemas.openxmlformats.org/drawingml/2006/main">
            <a:r>
              <a:t>One challenge here was that SARIMA initially produced a very large model artifact. That made deployment slow and impractical, so I changed the storage approach to keep compact parameters instead of saving a huge fitted object. I also set the API memory to 1 GiB on Cloud Run so SARIMA forecasts would not cause the instance to terminate.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slide.</a:t>
            </a:r>
          </a:p>
          <a:p xmlns:a="http://schemas.openxmlformats.org/drawingml/2006/main">
            <a:r>
              <a:t/>
            </a:r>
          </a:p>
          <a:p xmlns:a="http://schemas.openxmlformats.org/drawingml/2006/main">
            <a:r>
              <a:t>The user workflow has four steps. First, the user chooses the model method in the sidebar, either XGBoost or SARIMA. Second, the user sets the forecast horizon from 1 to 26 weeks. Third, Streamlit sends the request to the Flask API. Fourth, the app displays the forecast as both a chart and a table.</a:t>
            </a:r>
          </a:p>
          <a:p xmlns:a="http://schemas.openxmlformats.org/drawingml/2006/main">
            <a:r>
              <a:t/>
            </a:r>
          </a:p>
          <a:p xmlns:a="http://schemas.openxmlformats.org/drawingml/2006/main">
            <a:r>
              <a:t>For the demo, I would first open the Streamlit app:</a:t>
            </a:r>
          </a:p>
          <a:p xmlns:a="http://schemas.openxmlformats.org/drawingml/2006/main">
            <a:r>
              <a:t/>
            </a:r>
          </a:p>
          <a:p xmlns:a="http://schemas.openxmlformats.org/drawingml/2006/main">
            <a:r>
              <a:t>https://fuel-price-streamlit-oluqiqxkmq-uw.a.run.app</a:t>
            </a:r>
          </a:p>
          <a:p xmlns:a="http://schemas.openxmlformats.org/drawingml/2006/main">
            <a:r>
              <a:t/>
            </a:r>
          </a:p>
          <a:p xmlns:a="http://schemas.openxmlformats.org/drawingml/2006/main">
            <a:r>
              <a:t>Then I would choose XGBoost, set the horizon to 8 weeks, and click "Get forecast." I would point out that the chart is not just computed inside Streamlit. Streamlit is calling the deployed API service.</a:t>
            </a:r>
          </a:p>
          <a:p xmlns:a="http://schemas.openxmlformats.org/drawingml/2006/main">
            <a:r>
              <a:t/>
            </a:r>
          </a:p>
          <a:p xmlns:a="http://schemas.openxmlformats.org/drawingml/2006/main">
            <a:r>
              <a:t>To show the API directly, I can open the health endpoint:</a:t>
            </a:r>
          </a:p>
          <a:p xmlns:a="http://schemas.openxmlformats.org/drawingml/2006/main">
            <a:r>
              <a:t/>
            </a:r>
          </a:p>
          <a:p xmlns:a="http://schemas.openxmlformats.org/drawingml/2006/main">
            <a:r>
              <a:t>https://fuel-price-api-oluqiqxkmq-uw.a.run.app/health</a:t>
            </a:r>
          </a:p>
          <a:p xmlns:a="http://schemas.openxmlformats.org/drawingml/2006/main">
            <a:r>
              <a:t/>
            </a:r>
          </a:p>
          <a:p xmlns:a="http://schemas.openxmlformats.org/drawingml/2006/main">
            <a:r>
              <a:t>That returns JSON showing the API is alive and lists the supported methods.</a:t>
            </a:r>
          </a:p>
          <a:p xmlns:a="http://schemas.openxmlformats.org/drawingml/2006/main">
            <a:r>
              <a:t/>
            </a:r>
          </a:p>
          <a:p xmlns:a="http://schemas.openxmlformats.org/drawingml/2006/main">
            <a:r>
              <a:t>Then I can show a prediction request with this command:</a:t>
            </a:r>
          </a:p>
          <a:p xmlns:a="http://schemas.openxmlformats.org/drawingml/2006/main">
            <a:r>
              <a:t/>
            </a:r>
          </a:p>
          <a:p xmlns:a="http://schemas.openxmlformats.org/drawingml/2006/main">
            <a:r>
              <a:t>curl -X POST https://fuel-price-api-oluqiqxkmq-uw.a.run.app/predict \</a:t>
            </a:r>
          </a:p>
          <a:p xmlns:a="http://schemas.openxmlformats.org/drawingml/2006/main">
            <a:r>
              <a:t>  -H "Content-Type: application/json" \</a:t>
            </a:r>
          </a:p>
          <a:p xmlns:a="http://schemas.openxmlformats.org/drawingml/2006/main">
            <a:r>
              <a:t>  -d '{"horizon":8,"method":"xgboost"}'</a:t>
            </a:r>
          </a:p>
          <a:p xmlns:a="http://schemas.openxmlformats.org/drawingml/2006/main">
            <a:r>
              <a:t/>
            </a:r>
          </a:p>
          <a:p xmlns:a="http://schemas.openxmlformats.org/drawingml/2006/main">
            <a:r>
              <a:t>The response includes the method, horizon, last historical period, validation metrics, and a list of forecasted dates and prices. This demonstrates the core app/API interaction required by the final project.</a:t>
            </a:r>
          </a:p>
          <a:p xmlns:a="http://schemas.openxmlformats.org/drawingml/2006/main">
            <a:r>
              <a:t/>
            </a:r>
          </a:p>
          <a:p xmlns:a="http://schemas.openxmlformats.org/drawingml/2006/main">
            <a:r>
              <a:t>If the live demo is slow, I would still explain the flow clearly: the dashboard is the front end, Flask is the model service, and /predict is the contract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lesson from this project was that turning a model into a reliable deployed system takes more work than training the model itself.</a:t>
            </a:r>
          </a:p>
          <a:p xmlns:a="http://schemas.openxmlformats.org/drawingml/2006/main">
            <a:r>
              <a:t/>
            </a:r>
          </a:p>
          <a:p xmlns:a="http://schemas.openxmlformats.org/drawingml/2006/main">
            <a:r>
              <a:t>Some challenges were deployment-related. Cloud Run required the API and UI to be configured as separate services, and Streamlit needed the correct MODEL_API_URL environment variable so it could call the public API endpoint. SARIMA also required extra care because the original artifact was too large and the API needed enough memory.</a:t>
            </a:r>
          </a:p>
          <a:p xmlns:a="http://schemas.openxmlformats.org/drawingml/2006/main">
            <a:r>
              <a:t/>
            </a:r>
          </a:p>
          <a:p xmlns:a="http://schemas.openxmlformats.org/drawingml/2006/main">
            <a:r>
              <a:t>AI assistance was useful for scaffolding and troubleshooting. It helped with the Flask and Streamlit structure, Docker commands, deployment checks, and debugging. But I still had to manually verify the code, simplify generated pieces, check logs, run tests, and make sure the final project matched the course requirements.</a:t>
            </a:r>
          </a:p>
          <a:p xmlns:a="http://schemas.openxmlformats.org/drawingml/2006/main">
            <a:r>
              <a:t/>
            </a:r>
          </a:p>
          <a:p xmlns:a="http://schemas.openxmlformats.org/drawingml/2006/main">
            <a:r>
              <a:t>For future work, I would add a scheduled EIA refresh so the deployed model can update automatically, add confidence intervals, include a feature importance or SHAP view, and continue reducing dependencies so Cloud Run rebuilds are faster.</a:t>
            </a:r>
          </a:p>
          <a:p xmlns:a="http://schemas.openxmlformats.org/drawingml/2006/main">
            <a:r>
              <a:t/>
            </a:r>
          </a:p>
          <a:p xmlns:a="http://schemas.openxmlformats.org/drawingml/2006/main">
            <a:r>
              <a:t>Overall, this project gave me practice across the full data science workflow: data collection, preprocessing, model comparison, API design, frontend interaction, deployment, and presentation of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7de957c0e74e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6b9378e76049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26c161a78e4f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61af5e90044e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47f53d1cfa47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9ad631018447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0d3e7282634435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79e0a93475b4282" /></Relationships>
</file>

<file path=ppt/slideLayouts/slideLayout2.xml><?xml version="1.0" encoding="utf-8"?>
<p:sldLayout xmlns:p="http://schemas.openxmlformats.org/presentationml/2006/main">
  <p:cSld name="Slide 7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Slide 2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cSld name="Slide 6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cSld name="Slide 1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Slide 5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cSld name="Slide 4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Slide 3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3d81ab1d0c540de" /><Relationship Type="http://schemas.openxmlformats.org/officeDocument/2006/relationships/slideLayout" Target="/ppt/slideLayouts/slideLayout2.xml" Id="Ra657a142168c498f" /><Relationship Type="http://schemas.openxmlformats.org/officeDocument/2006/relationships/slideLayout" Target="/ppt/slideLayouts/slideLayout3.xml" Id="Rf2346b22f1cb48c6" /><Relationship Type="http://schemas.openxmlformats.org/officeDocument/2006/relationships/slideLayout" Target="/ppt/slideLayouts/slideLayout4.xml" Id="R73d04793a3ed4655" /><Relationship Type="http://schemas.openxmlformats.org/officeDocument/2006/relationships/slideLayout" Target="/ppt/slideLayouts/slideLayout5.xml" Id="Ra07aafc336474426" /><Relationship Type="http://schemas.openxmlformats.org/officeDocument/2006/relationships/slideLayout" Target="/ppt/slideLayouts/slideLayout6.xml" Id="Rec4ae2137d124b96" /><Relationship Type="http://schemas.openxmlformats.org/officeDocument/2006/relationships/slideLayout" Target="/ppt/slideLayouts/slideLayout7.xml" Id="Rea7ed549d5a24e9d" /><Relationship Type="http://schemas.openxmlformats.org/officeDocument/2006/relationships/slideLayout" Target="/ppt/slideLayouts/slideLayout8.xml" Id="R8c2ac3e5f4304379" /><Relationship Type="http://schemas.openxmlformats.org/officeDocument/2006/relationships/slideLayout" Target="/ppt/slideLayouts/slideLayout9.xml" Id="R979e1ab599ae4c3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57a142168c498f"/>
    <p:sldLayoutId xmlns:r="http://schemas.openxmlformats.org/officeDocument/2006/relationships" id="2147483650" r:id="Rf2346b22f1cb48c6"/>
    <p:sldLayoutId xmlns:r="http://schemas.openxmlformats.org/officeDocument/2006/relationships" id="2147483651" r:id="R73d04793a3ed4655"/>
    <p:sldLayoutId xmlns:r="http://schemas.openxmlformats.org/officeDocument/2006/relationships" id="2147483652" r:id="Ra07aafc336474426"/>
    <p:sldLayoutId xmlns:r="http://schemas.openxmlformats.org/officeDocument/2006/relationships" id="2147483653" r:id="Rec4ae2137d124b96"/>
    <p:sldLayoutId xmlns:r="http://schemas.openxmlformats.org/officeDocument/2006/relationships" id="2147483654" r:id="Rea7ed549d5a24e9d"/>
    <p:sldLayoutId xmlns:r="http://schemas.openxmlformats.org/officeDocument/2006/relationships" id="2147483655" r:id="R8c2ac3e5f4304379"/>
    <p:sldLayoutId xmlns:r="http://schemas.openxmlformats.org/officeDocument/2006/relationships" id="2147483656" r:id="R979e1ab599ae4c37"/>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5.xml" Id="R3d021ee1559c4468" /><Relationship Type="http://schemas.openxmlformats.org/officeDocument/2006/relationships/image" Target="/ppt/media/image.png" Id="R421ba55d89d7401d" /><Relationship Type="http://schemas.openxmlformats.org/officeDocument/2006/relationships/hyperlink" Target="https://fuel-price-streamlit-oluqiqxkmq-uw.a.run.app/" TargetMode="External" Id="Re782ed0d5d0b47ca" /><Relationship Type="http://schemas.openxmlformats.org/officeDocument/2006/relationships/hyperlink" Target="https://fuel-price-api-oluqiqxkmq-uw.a.run.app/" TargetMode="External" Id="Radf8dc45b3404de5" /><Relationship Type="http://schemas.openxmlformats.org/officeDocument/2006/relationships/notesSlide" Target="/ppt/notesSlides/notesSlide1.xml" Id="R6b1324b8dd224e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66f38446b054b37" /><Relationship Type="http://schemas.openxmlformats.org/officeDocument/2006/relationships/image" Target="/ppt/media/image2.png" Id="Rf02a389d4d384a10" /><Relationship Type="http://schemas.openxmlformats.org/officeDocument/2006/relationships/notesSlide" Target="/ppt/notesSlides/notesSlide2.xml" Id="Reb1b51e10929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f953ff9a21cb4fa2" /><Relationship Type="http://schemas.openxmlformats.org/officeDocument/2006/relationships/image" Target="/ppt/media/image3.png" Id="Ra11caf470f754191" /><Relationship Type="http://schemas.openxmlformats.org/officeDocument/2006/relationships/image" Target="/ppt/media/image4.png" Id="Rd43181b59d184b2a" /><Relationship Type="http://schemas.openxmlformats.org/officeDocument/2006/relationships/notesSlide" Target="/ppt/notesSlides/notesSlide3.xml" Id="Raaa5b0b6700444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ae83148207a048f1" /><Relationship Type="http://schemas.openxmlformats.org/officeDocument/2006/relationships/image" Target="/ppt/media/image5.png" Id="R154d1ae7ae1a4654" /><Relationship Type="http://schemas.openxmlformats.org/officeDocument/2006/relationships/notesSlide" Target="/ppt/notesSlides/notesSlide4.xml" Id="R3c32e12e533a41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a5d01bca7764d45" /><Relationship Type="http://schemas.openxmlformats.org/officeDocument/2006/relationships/image" Target="/ppt/media/image6.png" Id="Raa1fa61ead6b4638" /><Relationship Type="http://schemas.openxmlformats.org/officeDocument/2006/relationships/notesSlide" Target="/ppt/notesSlides/notesSlide5.xml" Id="Rc70aa204f5ba45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ebe64e16137a4fd0" /><Relationship Type="http://schemas.openxmlformats.org/officeDocument/2006/relationships/image" Target="/ppt/media/image7.png" Id="Re810a6c7b1044c00" /><Relationship Type="http://schemas.openxmlformats.org/officeDocument/2006/relationships/image" Target="/ppt/media/image8.png" Id="R58d26bba00cd49b4" /><Relationship Type="http://schemas.openxmlformats.org/officeDocument/2006/relationships/image" Target="/ppt/media/image9.png" Id="Rd25f878b2e0d41a4" /><Relationship Type="http://schemas.openxmlformats.org/officeDocument/2006/relationships/notesSlide" Target="/ppt/notesSlides/notesSlide6.xml" Id="R90a20cc87ce44a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cfbdd6615944629" /><Relationship Type="http://schemas.openxmlformats.org/officeDocument/2006/relationships/image" Target="/ppt/media/image10.png" Id="Rb8bef5bebfc64e86" /><Relationship Type="http://schemas.openxmlformats.org/officeDocument/2006/relationships/notesSlide" Target="/ppt/notesSlides/notesSlide7.xml" Id="Rdb9156977b91411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421ba55d89d7401d"/>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D98E6BB-317B-4003-BB58-434B8E92D5A7}"/>
              </a:ext>
            </a:extLst>
          </p:cNvPr>
          <p:cNvSpPr>
            <a:spLocks xmlns:a="http://schemas.openxmlformats.org/drawingml/2006/main" noGrp="1"/>
          </p:cNvSpPr>
          <p:nvPr/>
        </p:nvSpPr>
        <p:spPr>
          <a:xfrm xmlns:a="http://schemas.openxmlformats.org/drawingml/2006/main">
            <a:off x="523577" y="494779"/>
            <a:ext cx="1845469" cy="226740"/>
          </a:xfrm>
          <a:prstGeom xmlns:a="http://schemas.openxmlformats.org/drawingml/2006/main" prst="roundRect">
            <a:avLst>
              <a:gd name="adj" fmla="val 67304"/>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0AB1D993-7719-4E8C-A33E-58C3BE016DA9}"/>
              </a:ext>
            </a:extLst>
          </p:cNvPr>
          <p:cNvSpPr>
            <a:spLocks xmlns:a="http://schemas.openxmlformats.org/drawingml/2006/main" noGrp="1"/>
          </p:cNvSpPr>
          <p:nvPr/>
        </p:nvSpPr>
        <p:spPr>
          <a:xfrm xmlns:a="http://schemas.openxmlformats.org/drawingml/2006/main">
            <a:off x="599852" y="532879"/>
            <a:ext cx="2150120" cy="1505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00">
                <a:solidFill>
                  <a:srgbClr val="FFFFFF"/>
                </a:solidFill>
                <a:latin typeface="PT Sans"/>
                <a:ea typeface="PT Sans"/>
                <a:cs typeface="PT Sans"/>
              </a:rPr>
              <a:t>STAT 418 · FINAL PROJECT · JUNE 2026</a:t>
            </a:r>
          </a:p>
        </p:txBody>
      </p:sp>
      <p:sp>
        <p:nvSpPr>
          <p:cNvPr id="5" name="Text 2">
            <a:extLst xmlns:a="http://schemas.openxmlformats.org/drawingml/2006/main">
              <a:ext uri="{FF2B5EF4-FFF2-40B4-BE49-F238E27FC236}">
                <a16:creationId xmlns:a16="http://schemas.microsoft.com/office/drawing/2014/main" id="{759339B7-73BA-4B64-BA62-08E64EBA7B0B}"/>
              </a:ext>
            </a:extLst>
          </p:cNvPr>
          <p:cNvSpPr>
            <a:spLocks xmlns:a="http://schemas.openxmlformats.org/drawingml/2006/main" noGrp="1"/>
          </p:cNvSpPr>
          <p:nvPr/>
        </p:nvSpPr>
        <p:spPr>
          <a:xfrm xmlns:a="http://schemas.openxmlformats.org/drawingml/2006/main">
            <a:off x="523577" y="764753"/>
            <a:ext cx="5119390" cy="3740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FFFFFF"/>
                </a:solidFill>
                <a:latin typeface="Nunito SemiBold"/>
                <a:ea typeface="Nunito SemiBold"/>
                <a:cs typeface="Nunito SemiBold"/>
              </a:rPr>
              <a:t>U.S. Retail Gasoline Price Forecast</a:t>
            </a:r>
          </a:p>
        </p:txBody>
      </p:sp>
      <p:sp>
        <p:nvSpPr>
          <p:cNvPr id="6" name="Text 3">
            <a:extLst xmlns:a="http://schemas.openxmlformats.org/drawingml/2006/main">
              <a:ext uri="{FF2B5EF4-FFF2-40B4-BE49-F238E27FC236}">
                <a16:creationId xmlns:a16="http://schemas.microsoft.com/office/drawing/2014/main" id="{F6E545FD-70BB-4EF1-B0B3-F11F2F06B2A1}"/>
              </a:ext>
            </a:extLst>
          </p:cNvPr>
          <p:cNvSpPr>
            <a:spLocks xmlns:a="http://schemas.openxmlformats.org/drawingml/2006/main" noGrp="1"/>
          </p:cNvSpPr>
          <p:nvPr/>
        </p:nvSpPr>
        <p:spPr>
          <a:xfrm xmlns:a="http://schemas.openxmlformats.org/drawingml/2006/main">
            <a:off x="523577" y="1300832"/>
            <a:ext cx="4667845" cy="564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000">
                <a:solidFill>
                  <a:srgbClr val="FFFFFF"/>
                </a:solidFill>
                <a:latin typeface="PT Sans"/>
                <a:ea typeface="PT Sans"/>
                <a:cs typeface="PT Sans"/>
              </a:rPr>
              <a:t>A deployed data science application that collects weekly EIA gasoline prices, trains two forecasting models, serves predictions through Flask, and presents them in an interactive Streamlit dashboard.</a:t>
            </a:r>
          </a:p>
        </p:txBody>
      </p:sp>
      <p:sp>
        <p:nvSpPr>
          <p:cNvPr id="7" name="Text 4">
            <a:extLst xmlns:a="http://schemas.openxmlformats.org/drawingml/2006/main">
              <a:ext uri="{FF2B5EF4-FFF2-40B4-BE49-F238E27FC236}">
                <a16:creationId xmlns:a16="http://schemas.microsoft.com/office/drawing/2014/main" id="{DE223D5D-6499-4B2F-BFAD-0D40E77A6D4E}"/>
              </a:ext>
            </a:extLst>
          </p:cNvPr>
          <p:cNvSpPr>
            <a:spLocks xmlns:a="http://schemas.openxmlformats.org/drawingml/2006/main" noGrp="1"/>
          </p:cNvSpPr>
          <p:nvPr/>
        </p:nvSpPr>
        <p:spPr>
          <a:xfrm xmlns:a="http://schemas.openxmlformats.org/drawingml/2006/main">
            <a:off x="693539" y="2050554"/>
            <a:ext cx="1926357" cy="33575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2600">
                <a:solidFill>
                  <a:srgbClr val="FFFFFF"/>
                </a:solidFill>
                <a:latin typeface="Nunito SemiBold"/>
                <a:ea typeface="Nunito SemiBold"/>
                <a:cs typeface="Nunito SemiBold"/>
              </a:rPr>
              <a:t>1,729</a:t>
            </a:r>
          </a:p>
        </p:txBody>
      </p:sp>
      <p:sp>
        <p:nvSpPr>
          <p:cNvPr id="8" name="Text 5">
            <a:extLst xmlns:a="http://schemas.openxmlformats.org/drawingml/2006/main">
              <a:ext uri="{FF2B5EF4-FFF2-40B4-BE49-F238E27FC236}">
                <a16:creationId xmlns:a16="http://schemas.microsoft.com/office/drawing/2014/main" id="{A253CAE4-CF77-4746-965F-9C7E24192DFF}"/>
              </a:ext>
            </a:extLst>
          </p:cNvPr>
          <p:cNvSpPr>
            <a:spLocks xmlns:a="http://schemas.openxmlformats.org/drawingml/2006/main" noGrp="1"/>
          </p:cNvSpPr>
          <p:nvPr/>
        </p:nvSpPr>
        <p:spPr>
          <a:xfrm xmlns:a="http://schemas.openxmlformats.org/drawingml/2006/main">
            <a:off x="908670" y="2530897"/>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Weekly Observations</a:t>
            </a:r>
          </a:p>
        </p:txBody>
      </p:sp>
      <p:sp>
        <p:nvSpPr>
          <p:cNvPr id="9" name="Text 6">
            <a:extLst xmlns:a="http://schemas.openxmlformats.org/drawingml/2006/main">
              <a:ext uri="{FF2B5EF4-FFF2-40B4-BE49-F238E27FC236}">
                <a16:creationId xmlns:a16="http://schemas.microsoft.com/office/drawing/2014/main" id="{2FFF4FD6-14FC-432A-83CF-D8527016624B}"/>
              </a:ext>
            </a:extLst>
          </p:cNvPr>
          <p:cNvSpPr>
            <a:spLocks xmlns:a="http://schemas.openxmlformats.org/drawingml/2006/main" noGrp="1"/>
          </p:cNvSpPr>
          <p:nvPr/>
        </p:nvSpPr>
        <p:spPr>
          <a:xfrm xmlns:a="http://schemas.openxmlformats.org/drawingml/2006/main">
            <a:off x="523577" y="2782714"/>
            <a:ext cx="2266355"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1993–2026 EIA data</a:t>
            </a:r>
          </a:p>
        </p:txBody>
      </p:sp>
      <p:sp>
        <p:nvSpPr>
          <p:cNvPr id="10" name="Text 7">
            <a:extLst xmlns:a="http://schemas.openxmlformats.org/drawingml/2006/main">
              <a:ext uri="{FF2B5EF4-FFF2-40B4-BE49-F238E27FC236}">
                <a16:creationId xmlns:a16="http://schemas.microsoft.com/office/drawing/2014/main" id="{76482516-C78D-4A3B-BE84-05C1BA224316}"/>
              </a:ext>
            </a:extLst>
          </p:cNvPr>
          <p:cNvSpPr>
            <a:spLocks xmlns:a="http://schemas.openxmlformats.org/drawingml/2006/main" noGrp="1"/>
          </p:cNvSpPr>
          <p:nvPr/>
        </p:nvSpPr>
        <p:spPr>
          <a:xfrm xmlns:a="http://schemas.openxmlformats.org/drawingml/2006/main">
            <a:off x="3094955" y="2050554"/>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1" name="Text 8">
            <a:extLst xmlns:a="http://schemas.openxmlformats.org/drawingml/2006/main">
              <a:ext uri="{FF2B5EF4-FFF2-40B4-BE49-F238E27FC236}">
                <a16:creationId xmlns:a16="http://schemas.microsoft.com/office/drawing/2014/main" id="{F23C6BF8-E76D-4EF3-9886-6762A9787A2A}"/>
              </a:ext>
            </a:extLst>
          </p:cNvPr>
          <p:cNvSpPr>
            <a:spLocks xmlns:a="http://schemas.openxmlformats.org/drawingml/2006/main" noGrp="1"/>
          </p:cNvSpPr>
          <p:nvPr/>
        </p:nvSpPr>
        <p:spPr>
          <a:xfrm xmlns:a="http://schemas.openxmlformats.org/drawingml/2006/main">
            <a:off x="3310161" y="2614836"/>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Models Served</a:t>
            </a:r>
          </a:p>
        </p:txBody>
      </p:sp>
      <p:sp>
        <p:nvSpPr>
          <p:cNvPr id="12" name="Text 9">
            <a:extLst xmlns:a="http://schemas.openxmlformats.org/drawingml/2006/main">
              <a:ext uri="{FF2B5EF4-FFF2-40B4-BE49-F238E27FC236}">
                <a16:creationId xmlns:a16="http://schemas.microsoft.com/office/drawing/2014/main" id="{4428FF3B-F5EC-4234-881B-AD78BD53FBB6}"/>
              </a:ext>
            </a:extLst>
          </p:cNvPr>
          <p:cNvSpPr>
            <a:spLocks xmlns:a="http://schemas.openxmlformats.org/drawingml/2006/main" noGrp="1"/>
          </p:cNvSpPr>
          <p:nvPr/>
        </p:nvSpPr>
        <p:spPr>
          <a:xfrm xmlns:a="http://schemas.openxmlformats.org/drawingml/2006/main">
            <a:off x="2924994" y="2866653"/>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XGBoost &amp; SARIMA</a:t>
            </a:r>
          </a:p>
        </p:txBody>
      </p:sp>
      <p:sp>
        <p:nvSpPr>
          <p:cNvPr id="13" name="Text 10">
            <a:extLst xmlns:a="http://schemas.openxmlformats.org/drawingml/2006/main">
              <a:ext uri="{FF2B5EF4-FFF2-40B4-BE49-F238E27FC236}">
                <a16:creationId xmlns:a16="http://schemas.microsoft.com/office/drawing/2014/main" id="{5A94D530-05DA-46F1-8600-6C929153FD6D}"/>
              </a:ext>
            </a:extLst>
          </p:cNvPr>
          <p:cNvSpPr>
            <a:spLocks xmlns:a="http://schemas.openxmlformats.org/drawingml/2006/main" noGrp="1"/>
          </p:cNvSpPr>
          <p:nvPr/>
        </p:nvSpPr>
        <p:spPr>
          <a:xfrm xmlns:a="http://schemas.openxmlformats.org/drawingml/2006/main">
            <a:off x="1894210" y="3334569"/>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4" name="Text 11">
            <a:extLst xmlns:a="http://schemas.openxmlformats.org/drawingml/2006/main">
              <a:ext uri="{FF2B5EF4-FFF2-40B4-BE49-F238E27FC236}">
                <a16:creationId xmlns:a16="http://schemas.microsoft.com/office/drawing/2014/main" id="{0754AC88-9DFE-40BC-B70C-34A282B15B7F}"/>
              </a:ext>
            </a:extLst>
          </p:cNvPr>
          <p:cNvSpPr>
            <a:spLocks xmlns:a="http://schemas.openxmlformats.org/drawingml/2006/main" noGrp="1"/>
          </p:cNvSpPr>
          <p:nvPr/>
        </p:nvSpPr>
        <p:spPr>
          <a:xfrm xmlns:a="http://schemas.openxmlformats.org/drawingml/2006/main">
            <a:off x="2109415" y="3898850"/>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Live Services</a:t>
            </a:r>
          </a:p>
        </p:txBody>
      </p:sp>
      <p:sp>
        <p:nvSpPr>
          <p:cNvPr id="15" name="Text 12">
            <a:extLst xmlns:a="http://schemas.openxmlformats.org/drawingml/2006/main">
              <a:ext uri="{FF2B5EF4-FFF2-40B4-BE49-F238E27FC236}">
                <a16:creationId xmlns:a16="http://schemas.microsoft.com/office/drawing/2014/main" id="{FA10B519-0372-4509-BF47-CC756D9B48D6}"/>
              </a:ext>
            </a:extLst>
          </p:cNvPr>
          <p:cNvSpPr>
            <a:spLocks xmlns:a="http://schemas.openxmlformats.org/drawingml/2006/main" noGrp="1"/>
          </p:cNvSpPr>
          <p:nvPr/>
        </p:nvSpPr>
        <p:spPr>
          <a:xfrm xmlns:a="http://schemas.openxmlformats.org/drawingml/2006/main">
            <a:off x="1724248" y="4150668"/>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Flask API + Streamlit UI</a:t>
            </a:r>
          </a:p>
        </p:txBody>
      </p:sp>
      <p:sp>
        <p:nvSpPr>
          <p:cNvPr id="16" name="Text 13">
            <a:extLst xmlns:a="http://schemas.openxmlformats.org/drawingml/2006/main">
              <a:ext uri="{FF2B5EF4-FFF2-40B4-BE49-F238E27FC236}">
                <a16:creationId xmlns:a16="http://schemas.microsoft.com/office/drawing/2014/main" id="{BA4603DD-F8D1-40F8-97CC-3804223ACADD}"/>
              </a:ext>
            </a:extLst>
          </p:cNvPr>
          <p:cNvSpPr>
            <a:spLocks xmlns:a="http://schemas.openxmlformats.org/drawingml/2006/main" noGrp="1"/>
          </p:cNvSpPr>
          <p:nvPr/>
        </p:nvSpPr>
        <p:spPr>
          <a:xfrm xmlns:a="http://schemas.openxmlformats.org/drawingml/2006/main">
            <a:off x="523589" y="4400550"/>
            <a:ext cx="5125021" cy="6096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63" b="1">
                <a:solidFill>
                  <a:srgbClr val="D0D5DD"/>
                </a:solidFill>
                <a:latin typeface="PT Sans"/>
                <a:ea typeface="PT Sans"/>
                <a:cs typeface="PT Sans"/>
              </a:rPr>
              <a:t>Mike Wu</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e782ed0d5d0b47ca"/>
              </a:rPr>
              <a:t>Streamlit app: https://fuel-price-streamlit-oluqiqxkmq-uw.a.run.app</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adf8dc45b3404de5"/>
              </a:rPr>
              <a:t>Flask API: https://fuel-price-api-oluqiqxkmq-uw.a.run.app</a:t>
            </a:r>
          </a:p>
        </p:txBody>
      </p:sp>
    </p:spTree>
    <p:extLst>
      <p:ext uri="{BB962C8B-B14F-4D97-AF65-F5344CB8AC3E}">
        <p14:creationId xmlns:p14="http://schemas.microsoft.com/office/powerpoint/2010/main" val="704527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f02a389d4d384a10"/>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17F234B-31A5-42B7-849A-2859B67512B0}"/>
              </a:ext>
            </a:extLst>
          </p:cNvPr>
          <p:cNvSpPr>
            <a:spLocks xmlns:a="http://schemas.openxmlformats.org/drawingml/2006/main" noGrp="1"/>
          </p:cNvSpPr>
          <p:nvPr/>
        </p:nvSpPr>
        <p:spPr>
          <a:xfrm xmlns:a="http://schemas.openxmlformats.org/drawingml/2006/main">
            <a:off x="523577" y="494109"/>
            <a:ext cx="606549" cy="195783"/>
          </a:xfrm>
          <a:prstGeom xmlns:a="http://schemas.openxmlformats.org/drawingml/2006/main" prst="roundRect">
            <a:avLst>
              <a:gd name="adj" fmla="val 64191"/>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F4E9C65-E78A-4131-BE07-A823DF3D9F85}"/>
              </a:ext>
            </a:extLst>
          </p:cNvPr>
          <p:cNvSpPr>
            <a:spLocks xmlns:a="http://schemas.openxmlformats.org/drawingml/2006/main" noGrp="1"/>
          </p:cNvSpPr>
          <p:nvPr/>
        </p:nvSpPr>
        <p:spPr>
          <a:xfrm xmlns:a="http://schemas.openxmlformats.org/drawingml/2006/main">
            <a:off x="595908" y="535037"/>
            <a:ext cx="919088" cy="1139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650">
                <a:solidFill>
                  <a:srgbClr val="F2B42D"/>
                </a:solidFill>
                <a:latin typeface="PT Sans"/>
                <a:ea typeface="PT Sans"/>
                <a:cs typeface="PT Sans"/>
              </a:rPr>
              <a:t>MOTIVATION</a:t>
            </a:r>
          </a:p>
        </p:txBody>
      </p:sp>
      <p:sp>
        <p:nvSpPr>
          <p:cNvPr id="5" name="Text 2">
            <a:extLst xmlns:a="http://schemas.openxmlformats.org/drawingml/2006/main">
              <a:ext uri="{FF2B5EF4-FFF2-40B4-BE49-F238E27FC236}">
                <a16:creationId xmlns:a16="http://schemas.microsoft.com/office/drawing/2014/main" id="{C2010CBF-8BCD-4695-88DE-B95DCE9F575E}"/>
              </a:ext>
            </a:extLst>
          </p:cNvPr>
          <p:cNvSpPr>
            <a:spLocks xmlns:a="http://schemas.openxmlformats.org/drawingml/2006/main" noGrp="1"/>
          </p:cNvSpPr>
          <p:nvPr/>
        </p:nvSpPr>
        <p:spPr>
          <a:xfrm xmlns:a="http://schemas.openxmlformats.org/drawingml/2006/main">
            <a:off x="523577" y="719212"/>
            <a:ext cx="4667845" cy="61585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900">
                <a:solidFill>
                  <a:srgbClr val="FFFFFF"/>
                </a:solidFill>
                <a:latin typeface="Nunito SemiBold"/>
                <a:ea typeface="Nunito SemiBold"/>
                <a:cs typeface="Nunito SemiBold"/>
              </a:rPr>
              <a:t>Fuel Prices Are Volatile Enough to Make Short-Term Forecasting Useful</a:t>
            </a:r>
          </a:p>
        </p:txBody>
      </p:sp>
      <p:sp>
        <p:nvSpPr>
          <p:cNvPr id="6" name="Text 3">
            <a:extLst xmlns:a="http://schemas.openxmlformats.org/drawingml/2006/main">
              <a:ext uri="{FF2B5EF4-FFF2-40B4-BE49-F238E27FC236}">
                <a16:creationId xmlns:a16="http://schemas.microsoft.com/office/drawing/2014/main" id="{0611887B-3EFB-4DC5-8ECA-28F3A7B161B4}"/>
              </a:ext>
            </a:extLst>
          </p:cNvPr>
          <p:cNvSpPr>
            <a:spLocks xmlns:a="http://schemas.openxmlformats.org/drawingml/2006/main" noGrp="1"/>
          </p:cNvSpPr>
          <p:nvPr/>
        </p:nvSpPr>
        <p:spPr>
          <a:xfrm xmlns:a="http://schemas.openxmlformats.org/drawingml/2006/main">
            <a:off x="866775" y="1497285"/>
            <a:ext cx="1601614"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$0.949</a:t>
            </a:r>
          </a:p>
        </p:txBody>
      </p:sp>
      <p:sp>
        <p:nvSpPr>
          <p:cNvPr id="7" name="Text 4">
            <a:extLst xmlns:a="http://schemas.openxmlformats.org/drawingml/2006/main">
              <a:ext uri="{FF2B5EF4-FFF2-40B4-BE49-F238E27FC236}">
                <a16:creationId xmlns:a16="http://schemas.microsoft.com/office/drawing/2014/main" id="{BAE62A8D-C4F8-4E31-833E-C86CABD7666A}"/>
              </a:ext>
            </a:extLst>
          </p:cNvPr>
          <p:cNvSpPr>
            <a:spLocks xmlns:a="http://schemas.openxmlformats.org/drawingml/2006/main" noGrp="1"/>
          </p:cNvSpPr>
          <p:nvPr/>
        </p:nvSpPr>
        <p:spPr>
          <a:xfrm xmlns:a="http://schemas.openxmlformats.org/drawingml/2006/main">
            <a:off x="1051545"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Lowest Historical</a:t>
            </a:r>
          </a:p>
        </p:txBody>
      </p:sp>
      <p:sp>
        <p:nvSpPr>
          <p:cNvPr id="8" name="Text 5">
            <a:extLst xmlns:a="http://schemas.openxmlformats.org/drawingml/2006/main">
              <a:ext uri="{FF2B5EF4-FFF2-40B4-BE49-F238E27FC236}">
                <a16:creationId xmlns:a16="http://schemas.microsoft.com/office/drawing/2014/main" id="{AA5124F4-AD05-41B8-978C-E25CDC1BE078}"/>
              </a:ext>
            </a:extLst>
          </p:cNvPr>
          <p:cNvSpPr>
            <a:spLocks xmlns:a="http://schemas.openxmlformats.org/drawingml/2006/main" noGrp="1"/>
          </p:cNvSpPr>
          <p:nvPr/>
        </p:nvSpPr>
        <p:spPr>
          <a:xfrm xmlns:a="http://schemas.openxmlformats.org/drawingml/2006/main">
            <a:off x="523577" y="2032918"/>
            <a:ext cx="2288084"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9" name="Text 6">
            <a:extLst xmlns:a="http://schemas.openxmlformats.org/drawingml/2006/main">
              <a:ext uri="{FF2B5EF4-FFF2-40B4-BE49-F238E27FC236}">
                <a16:creationId xmlns:a16="http://schemas.microsoft.com/office/drawing/2014/main" id="{55E15EEA-3A77-48D6-9EF6-1755E5382763}"/>
              </a:ext>
            </a:extLst>
          </p:cNvPr>
          <p:cNvSpPr>
            <a:spLocks xmlns:a="http://schemas.openxmlformats.org/drawingml/2006/main" noGrp="1"/>
          </p:cNvSpPr>
          <p:nvPr/>
        </p:nvSpPr>
        <p:spPr>
          <a:xfrm xmlns:a="http://schemas.openxmlformats.org/drawingml/2006/main">
            <a:off x="3246462" y="1497285"/>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$5.107</a:t>
            </a:r>
          </a:p>
        </p:txBody>
      </p:sp>
      <p:sp>
        <p:nvSpPr>
          <p:cNvPr id="10" name="Text 7">
            <a:extLst xmlns:a="http://schemas.openxmlformats.org/drawingml/2006/main">
              <a:ext uri="{FF2B5EF4-FFF2-40B4-BE49-F238E27FC236}">
                <a16:creationId xmlns:a16="http://schemas.microsoft.com/office/drawing/2014/main" id="{CE3A4505-BE28-416A-8373-B97A2EB8AF0B}"/>
              </a:ext>
            </a:extLst>
          </p:cNvPr>
          <p:cNvSpPr>
            <a:spLocks xmlns:a="http://schemas.openxmlformats.org/drawingml/2006/main" noGrp="1"/>
          </p:cNvSpPr>
          <p:nvPr/>
        </p:nvSpPr>
        <p:spPr>
          <a:xfrm xmlns:a="http://schemas.openxmlformats.org/drawingml/2006/main">
            <a:off x="3431307"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Highest Historical</a:t>
            </a:r>
          </a:p>
        </p:txBody>
      </p:sp>
      <p:sp>
        <p:nvSpPr>
          <p:cNvPr id="11" name="Text 8">
            <a:extLst xmlns:a="http://schemas.openxmlformats.org/drawingml/2006/main">
              <a:ext uri="{FF2B5EF4-FFF2-40B4-BE49-F238E27FC236}">
                <a16:creationId xmlns:a16="http://schemas.microsoft.com/office/drawing/2014/main" id="{3986C79B-8A8D-488C-AC62-577C28AD29B6}"/>
              </a:ext>
            </a:extLst>
          </p:cNvPr>
          <p:cNvSpPr>
            <a:spLocks xmlns:a="http://schemas.openxmlformats.org/drawingml/2006/main" noGrp="1"/>
          </p:cNvSpPr>
          <p:nvPr/>
        </p:nvSpPr>
        <p:spPr>
          <a:xfrm xmlns:a="http://schemas.openxmlformats.org/drawingml/2006/main">
            <a:off x="2903265" y="2032918"/>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12" name="Text 9">
            <a:extLst xmlns:a="http://schemas.openxmlformats.org/drawingml/2006/main">
              <a:ext uri="{FF2B5EF4-FFF2-40B4-BE49-F238E27FC236}">
                <a16:creationId xmlns:a16="http://schemas.microsoft.com/office/drawing/2014/main" id="{208486E2-BFE6-4334-8205-543BDE789588}"/>
              </a:ext>
            </a:extLst>
          </p:cNvPr>
          <p:cNvSpPr>
            <a:spLocks xmlns:a="http://schemas.openxmlformats.org/drawingml/2006/main" noGrp="1"/>
          </p:cNvSpPr>
          <p:nvPr/>
        </p:nvSpPr>
        <p:spPr>
          <a:xfrm xmlns:a="http://schemas.openxmlformats.org/drawingml/2006/main">
            <a:off x="2056581" y="2374181"/>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$4.621</a:t>
            </a:r>
          </a:p>
        </p:txBody>
      </p:sp>
      <p:sp>
        <p:nvSpPr>
          <p:cNvPr id="13" name="Text 10">
            <a:extLst xmlns:a="http://schemas.openxmlformats.org/drawingml/2006/main">
              <a:ext uri="{FF2B5EF4-FFF2-40B4-BE49-F238E27FC236}">
                <a16:creationId xmlns:a16="http://schemas.microsoft.com/office/drawing/2014/main" id="{F0813D09-6E60-4667-A582-E59FD1A8A444}"/>
              </a:ext>
            </a:extLst>
          </p:cNvPr>
          <p:cNvSpPr>
            <a:spLocks xmlns:a="http://schemas.openxmlformats.org/drawingml/2006/main" noGrp="1"/>
          </p:cNvSpPr>
          <p:nvPr/>
        </p:nvSpPr>
        <p:spPr>
          <a:xfrm xmlns:a="http://schemas.openxmlformats.org/drawingml/2006/main">
            <a:off x="2241426" y="2711797"/>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Latest Observation</a:t>
            </a:r>
          </a:p>
        </p:txBody>
      </p:sp>
      <p:sp>
        <p:nvSpPr>
          <p:cNvPr id="14" name="Text 11">
            <a:extLst xmlns:a="http://schemas.openxmlformats.org/drawingml/2006/main">
              <a:ext uri="{FF2B5EF4-FFF2-40B4-BE49-F238E27FC236}">
                <a16:creationId xmlns:a16="http://schemas.microsoft.com/office/drawing/2014/main" id="{7B007E6A-3A43-457D-BBD1-54BD05DB82D6}"/>
              </a:ext>
            </a:extLst>
          </p:cNvPr>
          <p:cNvSpPr>
            <a:spLocks xmlns:a="http://schemas.openxmlformats.org/drawingml/2006/main" noGrp="1"/>
          </p:cNvSpPr>
          <p:nvPr/>
        </p:nvSpPr>
        <p:spPr>
          <a:xfrm xmlns:a="http://schemas.openxmlformats.org/drawingml/2006/main">
            <a:off x="1713384" y="2909813"/>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May 18, 2026</a:t>
            </a:r>
          </a:p>
        </p:txBody>
      </p:sp>
      <p:sp>
        <p:nvSpPr>
          <p:cNvPr id="15" name="Shape 12">
            <a:extLst xmlns:a="http://schemas.openxmlformats.org/drawingml/2006/main">
              <a:ext uri="{FF2B5EF4-FFF2-40B4-BE49-F238E27FC236}">
                <a16:creationId xmlns:a16="http://schemas.microsoft.com/office/drawing/2014/main" id="{54881213-10F2-4F37-BBBA-50FC7FE2420C}"/>
              </a:ext>
            </a:extLst>
          </p:cNvPr>
          <p:cNvSpPr>
            <a:spLocks xmlns:a="http://schemas.openxmlformats.org/drawingml/2006/main" noGrp="1"/>
          </p:cNvSpPr>
          <p:nvPr/>
        </p:nvSpPr>
        <p:spPr>
          <a:xfrm xmlns:a="http://schemas.openxmlformats.org/drawingml/2006/main">
            <a:off x="523577" y="3134618"/>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A983453E-AF17-44B7-98BC-66FEE71BDF2B}"/>
              </a:ext>
            </a:extLst>
          </p:cNvPr>
          <p:cNvSpPr>
            <a:spLocks xmlns:a="http://schemas.openxmlformats.org/drawingml/2006/main" noGrp="1"/>
          </p:cNvSpPr>
          <p:nvPr/>
        </p:nvSpPr>
        <p:spPr>
          <a:xfrm xmlns:a="http://schemas.openxmlformats.org/drawingml/2006/main">
            <a:off x="509290" y="3134618"/>
            <a:ext cx="57150" cy="720700"/>
          </a:xfrm>
          <a:prstGeom xmlns:a="http://schemas.openxmlformats.org/drawingml/2006/main" prst="roundRect">
            <a:avLst>
              <a:gd name="adj" fmla="val 274880"/>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9847ABFB-6F1D-4B52-B26C-B181711CBE17}"/>
              </a:ext>
            </a:extLst>
          </p:cNvPr>
          <p:cNvSpPr>
            <a:spLocks xmlns:a="http://schemas.openxmlformats.org/drawingml/2006/main" noGrp="1"/>
          </p:cNvSpPr>
          <p:nvPr/>
        </p:nvSpPr>
        <p:spPr>
          <a:xfrm xmlns:a="http://schemas.openxmlformats.org/drawingml/2006/main">
            <a:off x="685428" y="3253606"/>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User Problem</a:t>
            </a:r>
          </a:p>
        </p:txBody>
      </p:sp>
      <p:sp>
        <p:nvSpPr>
          <p:cNvPr id="18" name="Text 15">
            <a:extLst xmlns:a="http://schemas.openxmlformats.org/drawingml/2006/main">
              <a:ext uri="{FF2B5EF4-FFF2-40B4-BE49-F238E27FC236}">
                <a16:creationId xmlns:a16="http://schemas.microsoft.com/office/drawing/2014/main" id="{D315D29E-0075-4DBF-912E-D4CCC5F1E063}"/>
              </a:ext>
            </a:extLst>
          </p:cNvPr>
          <p:cNvSpPr>
            <a:spLocks xmlns:a="http://schemas.openxmlformats.org/drawingml/2006/main" noGrp="1"/>
          </p:cNvSpPr>
          <p:nvPr/>
        </p:nvSpPr>
        <p:spPr>
          <a:xfrm xmlns:a="http://schemas.openxmlformats.org/drawingml/2006/main">
            <a:off x="685428" y="3451622"/>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Price movement is hard to reason about from raw weekly tables. A useful class demo needs both an interface and a deployed model endpoint.</a:t>
            </a:r>
          </a:p>
        </p:txBody>
      </p:sp>
      <p:sp>
        <p:nvSpPr>
          <p:cNvPr id="19" name="Shape 16">
            <a:extLst xmlns:a="http://schemas.openxmlformats.org/drawingml/2006/main">
              <a:ext uri="{FF2B5EF4-FFF2-40B4-BE49-F238E27FC236}">
                <a16:creationId xmlns:a16="http://schemas.microsoft.com/office/drawing/2014/main" id="{BA5D1CA0-C9A5-43B7-8165-53A7EBDC736B}"/>
              </a:ext>
            </a:extLst>
          </p:cNvPr>
          <p:cNvSpPr>
            <a:spLocks xmlns:a="http://schemas.openxmlformats.org/drawingml/2006/main" noGrp="1"/>
          </p:cNvSpPr>
          <p:nvPr/>
        </p:nvSpPr>
        <p:spPr>
          <a:xfrm xmlns:a="http://schemas.openxmlformats.org/drawingml/2006/main">
            <a:off x="523577" y="3928616"/>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6CA15C8B-69B6-47EA-9FC3-249ADA18F397}"/>
              </a:ext>
            </a:extLst>
          </p:cNvPr>
          <p:cNvSpPr>
            <a:spLocks xmlns:a="http://schemas.openxmlformats.org/drawingml/2006/main" noGrp="1"/>
          </p:cNvSpPr>
          <p:nvPr/>
        </p:nvSpPr>
        <p:spPr>
          <a:xfrm xmlns:a="http://schemas.openxmlformats.org/drawingml/2006/main">
            <a:off x="509290" y="3928616"/>
            <a:ext cx="57150" cy="720700"/>
          </a:xfrm>
          <a:prstGeom xmlns:a="http://schemas.openxmlformats.org/drawingml/2006/main" prst="roundRect">
            <a:avLst>
              <a:gd name="adj" fmla="val 274880"/>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362B334-266B-4DF0-A129-D28E9AB125EC}"/>
              </a:ext>
            </a:extLst>
          </p:cNvPr>
          <p:cNvSpPr>
            <a:spLocks xmlns:a="http://schemas.openxmlformats.org/drawingml/2006/main" noGrp="1"/>
          </p:cNvSpPr>
          <p:nvPr/>
        </p:nvSpPr>
        <p:spPr>
          <a:xfrm xmlns:a="http://schemas.openxmlformats.org/drawingml/2006/main">
            <a:off x="685428" y="4047604"/>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Project Objective</a:t>
            </a:r>
          </a:p>
        </p:txBody>
      </p:sp>
      <p:sp>
        <p:nvSpPr>
          <p:cNvPr id="22" name="Text 19">
            <a:extLst xmlns:a="http://schemas.openxmlformats.org/drawingml/2006/main">
              <a:ext uri="{FF2B5EF4-FFF2-40B4-BE49-F238E27FC236}">
                <a16:creationId xmlns:a16="http://schemas.microsoft.com/office/drawing/2014/main" id="{DB90751A-001A-4635-9ABD-AEC504FBDF0D}"/>
              </a:ext>
            </a:extLst>
          </p:cNvPr>
          <p:cNvSpPr>
            <a:spLocks xmlns:a="http://schemas.openxmlformats.org/drawingml/2006/main" noGrp="1"/>
          </p:cNvSpPr>
          <p:nvPr/>
        </p:nvSpPr>
        <p:spPr>
          <a:xfrm xmlns:a="http://schemas.openxmlformats.org/drawingml/2006/main">
            <a:off x="685428" y="4245620"/>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Make model choice and forecast horizon interactive. Deploy the API and app separately so the architecture matches production patterns.</a:t>
            </a:r>
          </a:p>
        </p:txBody>
      </p:sp>
    </p:spTree>
    <p:extLst>
      <p:ext uri="{BB962C8B-B14F-4D97-AF65-F5344CB8AC3E}">
        <p14:creationId xmlns:p14="http://schemas.microsoft.com/office/powerpoint/2010/main" val="17149733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AD9EC8-679D-4BA4-AA2E-C69473F2C409}"/>
              </a:ext>
            </a:extLst>
          </p:cNvPr>
          <p:cNvSpPr>
            <a:spLocks xmlns:a="http://schemas.openxmlformats.org/drawingml/2006/main" noGrp="1"/>
          </p:cNvSpPr>
          <p:nvPr/>
        </p:nvSpPr>
        <p:spPr>
          <a:xfrm xmlns:a="http://schemas.openxmlformats.org/drawingml/2006/main">
            <a:off x="261789" y="205680"/>
            <a:ext cx="340370" cy="86171"/>
          </a:xfrm>
          <a:prstGeom xmlns:a="http://schemas.openxmlformats.org/drawingml/2006/main" prst="roundRect">
            <a:avLst>
              <a:gd name="adj" fmla="val 72922"/>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47AFE02-719D-4445-91D5-7380CE421DB1}"/>
              </a:ext>
            </a:extLst>
          </p:cNvPr>
          <p:cNvSpPr>
            <a:spLocks xmlns:a="http://schemas.openxmlformats.org/drawingml/2006/main" noGrp="1"/>
          </p:cNvSpPr>
          <p:nvPr/>
        </p:nvSpPr>
        <p:spPr>
          <a:xfrm xmlns:a="http://schemas.openxmlformats.org/drawingml/2006/main">
            <a:off x="297954" y="226144"/>
            <a:ext cx="725239" cy="4524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300">
                <a:solidFill>
                  <a:srgbClr val="F2B42D"/>
                </a:solidFill>
                <a:latin typeface="PT Sans"/>
                <a:ea typeface="PT Sans"/>
                <a:cs typeface="PT Sans"/>
              </a:rPr>
              <a:t>DATA PIPELINE</a:t>
            </a:r>
          </a:p>
        </p:txBody>
      </p:sp>
      <p:sp>
        <p:nvSpPr>
          <p:cNvPr id="4" name="Text 2">
            <a:extLst xmlns:a="http://schemas.openxmlformats.org/drawingml/2006/main">
              <a:ext uri="{FF2B5EF4-FFF2-40B4-BE49-F238E27FC236}">
                <a16:creationId xmlns:a16="http://schemas.microsoft.com/office/drawing/2014/main" id="{3A24230C-9B56-4248-A0B8-E92BD2AF769F}"/>
              </a:ext>
            </a:extLst>
          </p:cNvPr>
          <p:cNvSpPr>
            <a:spLocks xmlns:a="http://schemas.openxmlformats.org/drawingml/2006/main" noGrp="1"/>
          </p:cNvSpPr>
          <p:nvPr/>
        </p:nvSpPr>
        <p:spPr>
          <a:xfrm xmlns:a="http://schemas.openxmlformats.org/drawingml/2006/main">
            <a:off x="261789" y="299145"/>
            <a:ext cx="4026991"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EIA Weekly Gasoline Prices Become Model-Ready Lag Features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a11caf470f754191"/>
          <a:stretch xmlns:a="http://schemas.openxmlformats.org/drawingml/2006/main">
            <a:fillRect l="0" t="0" r="0" b="0"/>
          </a:stretch>
        </p:blipFill>
        <p:spPr>
          <a:xfrm xmlns:a="http://schemas.openxmlformats.org/drawingml/2006/main">
            <a:off x="1554882" y="480640"/>
            <a:ext cx="6034236" cy="238050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35FF6E6-110E-459C-A45D-43083703679C}"/>
              </a:ext>
            </a:extLst>
          </p:cNvPr>
          <p:cNvSpPr>
            <a:spLocks xmlns:a="http://schemas.openxmlformats.org/drawingml/2006/main" noGrp="1"/>
          </p:cNvSpPr>
          <p:nvPr/>
        </p:nvSpPr>
        <p:spPr>
          <a:xfrm xmlns:a="http://schemas.openxmlformats.org/drawingml/2006/main">
            <a:off x="2264990"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Collect</a:t>
            </a:r>
          </a:p>
        </p:txBody>
      </p:sp>
      <p:sp>
        <p:nvSpPr>
          <p:cNvPr id="7" name="Text 4">
            <a:extLst xmlns:a="http://schemas.openxmlformats.org/drawingml/2006/main">
              <a:ext uri="{FF2B5EF4-FFF2-40B4-BE49-F238E27FC236}">
                <a16:creationId xmlns:a16="http://schemas.microsoft.com/office/drawing/2014/main" id="{8B99CD92-BB39-49EB-BBF7-10330CF11E94}"/>
              </a:ext>
            </a:extLst>
          </p:cNvPr>
          <p:cNvSpPr>
            <a:spLocks xmlns:a="http://schemas.openxmlformats.org/drawingml/2006/main" noGrp="1"/>
          </p:cNvSpPr>
          <p:nvPr/>
        </p:nvSpPr>
        <p:spPr>
          <a:xfrm xmlns:a="http://schemas.openxmlformats.org/drawingml/2006/main">
            <a:off x="2493590" y="1505144"/>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EIA Open Data API; synthetic fallback for CI/local</a:t>
            </a:r>
          </a:p>
        </p:txBody>
      </p:sp>
      <p:sp>
        <p:nvSpPr>
          <p:cNvPr id="8" name="Text 5">
            <a:extLst xmlns:a="http://schemas.openxmlformats.org/drawingml/2006/main">
              <a:ext uri="{FF2B5EF4-FFF2-40B4-BE49-F238E27FC236}">
                <a16:creationId xmlns:a16="http://schemas.microsoft.com/office/drawing/2014/main" id="{7CBC07BD-FE0D-4AE6-948E-1CF47D0A2EA9}"/>
              </a:ext>
            </a:extLst>
          </p:cNvPr>
          <p:cNvSpPr>
            <a:spLocks xmlns:a="http://schemas.openxmlformats.org/drawingml/2006/main" noGrp="1"/>
          </p:cNvSpPr>
          <p:nvPr/>
        </p:nvSpPr>
        <p:spPr>
          <a:xfrm xmlns:a="http://schemas.openxmlformats.org/drawingml/2006/main">
            <a:off x="3757363" y="1571923"/>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Clean</a:t>
            </a:r>
          </a:p>
        </p:txBody>
      </p:sp>
      <p:sp>
        <p:nvSpPr>
          <p:cNvPr id="9" name="Text 6">
            <a:extLst xmlns:a="http://schemas.openxmlformats.org/drawingml/2006/main">
              <a:ext uri="{FF2B5EF4-FFF2-40B4-BE49-F238E27FC236}">
                <a16:creationId xmlns:a16="http://schemas.microsoft.com/office/drawing/2014/main" id="{169C0109-B560-4F38-922F-959A04F7605E}"/>
              </a:ext>
            </a:extLst>
          </p:cNvPr>
          <p:cNvSpPr>
            <a:spLocks xmlns:a="http://schemas.openxmlformats.org/drawingml/2006/main" noGrp="1"/>
          </p:cNvSpPr>
          <p:nvPr/>
        </p:nvSpPr>
        <p:spPr>
          <a:xfrm xmlns:a="http://schemas.openxmlformats.org/drawingml/2006/main">
            <a:off x="3985963" y="1771989"/>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Sort by period, coerce price, dedupe weeks, save raw CSV</a:t>
            </a:r>
          </a:p>
        </p:txBody>
      </p:sp>
      <p:sp>
        <p:nvSpPr>
          <p:cNvPr id="10" name="Text 7">
            <a:extLst xmlns:a="http://schemas.openxmlformats.org/drawingml/2006/main">
              <a:ext uri="{FF2B5EF4-FFF2-40B4-BE49-F238E27FC236}">
                <a16:creationId xmlns:a16="http://schemas.microsoft.com/office/drawing/2014/main" id="{10EF3E2D-9774-4783-85DF-63DB9F886313}"/>
              </a:ext>
            </a:extLst>
          </p:cNvPr>
          <p:cNvSpPr>
            <a:spLocks xmlns:a="http://schemas.openxmlformats.org/drawingml/2006/main" noGrp="1"/>
          </p:cNvSpPr>
          <p:nvPr/>
        </p:nvSpPr>
        <p:spPr>
          <a:xfrm xmlns:a="http://schemas.openxmlformats.org/drawingml/2006/main">
            <a:off x="5267156"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Model Frame</a:t>
            </a:r>
          </a:p>
        </p:txBody>
      </p:sp>
      <p:sp>
        <p:nvSpPr>
          <p:cNvPr id="11" name="Text 8">
            <a:extLst xmlns:a="http://schemas.openxmlformats.org/drawingml/2006/main">
              <a:ext uri="{FF2B5EF4-FFF2-40B4-BE49-F238E27FC236}">
                <a16:creationId xmlns:a16="http://schemas.microsoft.com/office/drawing/2014/main" id="{DC059FB1-B66D-44EF-93B4-0A02DD17E193}"/>
              </a:ext>
            </a:extLst>
          </p:cNvPr>
          <p:cNvSpPr>
            <a:spLocks xmlns:a="http://schemas.openxmlformats.org/drawingml/2006/main" noGrp="1"/>
          </p:cNvSpPr>
          <p:nvPr/>
        </p:nvSpPr>
        <p:spPr>
          <a:xfrm xmlns:a="http://schemas.openxmlformats.org/drawingml/2006/main">
            <a:off x="5495756" y="1505144"/>
            <a:ext cx="1200395" cy="1763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Create lags 1/2/4/8/52, month and ISO week</a:t>
            </a:r>
          </a:p>
        </p:txBody>
      </p:sp>
      <p:sp>
        <p:nvSpPr>
          <p:cNvPr id="12" name="Text 9">
            <a:extLst xmlns:a="http://schemas.openxmlformats.org/drawingml/2006/main">
              <a:ext uri="{FF2B5EF4-FFF2-40B4-BE49-F238E27FC236}">
                <a16:creationId xmlns:a16="http://schemas.microsoft.com/office/drawing/2014/main" id="{C772065A-6E59-4D6C-BC16-A1B92228EA4D}"/>
              </a:ext>
            </a:extLst>
          </p:cNvPr>
          <p:cNvSpPr>
            <a:spLocks xmlns:a="http://schemas.openxmlformats.org/drawingml/2006/main" noGrp="1"/>
          </p:cNvSpPr>
          <p:nvPr/>
        </p:nvSpPr>
        <p:spPr>
          <a:xfrm xmlns:a="http://schemas.openxmlformats.org/drawingml/2006/main">
            <a:off x="261747" y="2838450"/>
            <a:ext cx="5334000" cy="3238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863">
                <a:solidFill>
                  <a:srgbClr val="E5E7EB"/>
                </a:solidFill>
                <a:latin typeface="PT Sans"/>
                <a:ea typeface="PT Sans"/>
                <a:cs typeface="PT Sans"/>
              </a:rPr>
              <a:t>Explainable features: recent lags capture price level and momentum; calendar fields capture weekly seasonality.</a:t>
            </a:r>
          </a:p>
        </p:txBody>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d43181b59d184b2a"/>
          <a:stretch xmlns:a="http://schemas.openxmlformats.org/drawingml/2006/main">
            <a:fillRect l="0" t="0" r="0" b="0"/>
          </a:stretch>
        </p:blipFill>
        <p:spPr>
          <a:xfrm xmlns:a="http://schemas.openxmlformats.org/drawingml/2006/main">
            <a:off x="261789" y="2979539"/>
            <a:ext cx="3890963" cy="220481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45B3C608-B3CC-4A50-9490-5D21D6D2A352}"/>
              </a:ext>
            </a:extLst>
          </p:cNvPr>
          <p:cNvSpPr>
            <a:spLocks xmlns:a="http://schemas.openxmlformats.org/drawingml/2006/main" noGrp="1"/>
          </p:cNvSpPr>
          <p:nvPr/>
        </p:nvSpPr>
        <p:spPr>
          <a:xfrm xmlns:a="http://schemas.openxmlformats.org/drawingml/2006/main">
            <a:off x="5952839" y="3752850"/>
            <a:ext cx="2095500" cy="1905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450">
                <a:solidFill>
                  <a:srgbClr val="FFFFFF"/>
                </a:solidFill>
                <a:latin typeface="Nunito SemiBold"/>
                <a:ea typeface="Nunito SemiBold"/>
                <a:cs typeface="Nunito SemiBold"/>
              </a:rPr>
              <a:t>Feature Engineering</a:t>
            </a:r>
          </a:p>
        </p:txBody>
      </p:sp>
      <p:sp>
        <p:nvSpPr>
          <p:cNvPr id="15" name="Text 11">
            <a:extLst xmlns:a="http://schemas.openxmlformats.org/drawingml/2006/main">
              <a:ext uri="{FF2B5EF4-FFF2-40B4-BE49-F238E27FC236}">
                <a16:creationId xmlns:a16="http://schemas.microsoft.com/office/drawing/2014/main" id="{B2742319-011F-4F1D-8B0A-0A2958689F8F}"/>
              </a:ext>
            </a:extLst>
          </p:cNvPr>
          <p:cNvSpPr>
            <a:spLocks xmlns:a="http://schemas.openxmlformats.org/drawingml/2006/main" noGrp="1"/>
          </p:cNvSpPr>
          <p:nvPr/>
        </p:nvSpPr>
        <p:spPr>
          <a:xfrm xmlns:a="http://schemas.openxmlformats.org/drawingml/2006/main">
            <a:off x="5952839" y="3962400"/>
            <a:ext cx="29527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90000"/>
              </a:lnSpc>
              <a:buChar char="•"/>
            </a:pPr>
            <a:r>
              <a:rPr sz="788">
                <a:solidFill>
                  <a:srgbClr val="F9FAFB"/>
                </a:solidFill>
                <a:latin typeface="PT Sans"/>
                <a:ea typeface="PT Sans"/>
                <a:cs typeface="PT Sans"/>
              </a:rPr>
              <a:t>Lags 1, 2, 4, 8, 52: recent level, momentum, annual seasonality</a:t>
            </a:r>
          </a:p>
          <a:p xmlns:a="http://schemas.openxmlformats.org/drawingml/2006/main">
            <a:pPr marL="342900" indent="-342900" algn="l">
              <a:lnSpc>
                <a:spcPct val="90000"/>
              </a:lnSpc>
              <a:buChar char="•"/>
            </a:pPr>
            <a:r>
              <a:rPr sz="788">
                <a:solidFill>
                  <a:srgbClr val="F9FAFB"/>
                </a:solidFill>
                <a:latin typeface="PT Sans"/>
                <a:ea typeface="PT Sans"/>
                <a:cs typeface="PT Sans"/>
              </a:rPr>
              <a:t>Month + ISO week: calendar structure</a:t>
            </a:r>
          </a:p>
          <a:p xmlns:a="http://schemas.openxmlformats.org/drawingml/2006/main">
            <a:pPr marL="342900" indent="-342900" algn="l">
              <a:lnSpc>
                <a:spcPct val="90000"/>
              </a:lnSpc>
              <a:buChar char="•"/>
            </a:pPr>
            <a:r>
              <a:rPr sz="788">
                <a:solidFill>
                  <a:srgbClr val="F9FAFB"/>
                </a:solidFill>
                <a:latin typeface="PT Sans"/>
                <a:ea typeface="PT Sans"/>
                <a:cs typeface="PT Sans"/>
              </a:rPr>
              <a:t>1,729 rows: Apr 5, 1993 to May 18, 2026</a:t>
            </a:r>
          </a:p>
        </p:txBody>
      </p:sp>
    </p:spTree>
    <p:extLst>
      <p:ext uri="{BB962C8B-B14F-4D97-AF65-F5344CB8AC3E}">
        <p14:creationId xmlns:p14="http://schemas.microsoft.com/office/powerpoint/2010/main" val="860558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A77CC-9ACF-42C9-BB23-CC271E17E8BF}"/>
              </a:ext>
            </a:extLst>
          </p:cNvPr>
          <p:cNvSpPr>
            <a:spLocks xmlns:a="http://schemas.openxmlformats.org/drawingml/2006/main" noGrp="1"/>
          </p:cNvSpPr>
          <p:nvPr/>
        </p:nvSpPr>
        <p:spPr>
          <a:xfrm xmlns:a="http://schemas.openxmlformats.org/drawingml/2006/main">
            <a:off x="523577" y="495151"/>
            <a:ext cx="1277987" cy="309711"/>
          </a:xfrm>
          <a:prstGeom xmlns:a="http://schemas.openxmlformats.org/drawingml/2006/main" prst="roundRect">
            <a:avLst>
              <a:gd name="adj" fmla="val 57969"/>
            </a:avLst>
          </a:prstGeom>
          <a:noFill xmlns:a="http://schemas.openxmlformats.org/drawingml/2006/main"/>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BED531F-30BD-471D-9CD5-46CCA27834A2}"/>
              </a:ext>
            </a:extLst>
          </p:cNvPr>
          <p:cNvSpPr>
            <a:spLocks xmlns:a="http://schemas.openxmlformats.org/drawingml/2006/main" noGrp="1"/>
          </p:cNvSpPr>
          <p:nvPr/>
        </p:nvSpPr>
        <p:spPr>
          <a:xfrm xmlns:a="http://schemas.openxmlformats.org/drawingml/2006/main">
            <a:off x="627608" y="554310"/>
            <a:ext cx="1527125" cy="1913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900">
                <a:solidFill>
                  <a:srgbClr val="F2B42D"/>
                </a:solidFill>
                <a:latin typeface="PT Sans"/>
                <a:ea typeface="PT Sans"/>
                <a:cs typeface="PT Sans"/>
              </a:rPr>
              <a:t>MODEL EVALUATION</a:t>
            </a:r>
          </a:p>
        </p:txBody>
      </p:sp>
      <p:sp>
        <p:nvSpPr>
          <p:cNvPr id="4" name="Text 2">
            <a:extLst xmlns:a="http://schemas.openxmlformats.org/drawingml/2006/main">
              <a:ext uri="{FF2B5EF4-FFF2-40B4-BE49-F238E27FC236}">
                <a16:creationId xmlns:a16="http://schemas.microsoft.com/office/drawing/2014/main" id="{1F6BB60A-C587-4552-B4CD-8D58A2DE189C}"/>
              </a:ext>
            </a:extLst>
          </p:cNvPr>
          <p:cNvSpPr>
            <a:spLocks xmlns:a="http://schemas.openxmlformats.org/drawingml/2006/main" noGrp="1"/>
          </p:cNvSpPr>
          <p:nvPr/>
        </p:nvSpPr>
        <p:spPr>
          <a:xfrm xmlns:a="http://schemas.openxmlformats.org/drawingml/2006/main">
            <a:off x="523577" y="864691"/>
            <a:ext cx="8339435" cy="440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750">
                <a:solidFill>
                  <a:srgbClr val="FFFFFF"/>
                </a:solidFill>
                <a:latin typeface="Nunito SemiBold"/>
                <a:ea typeface="Nunito SemiBold"/>
                <a:cs typeface="Nunito SemiBold"/>
              </a:rPr>
              <a:t>XGBoost Won the 52-Week Holdout Comparison</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154d1ae7ae1a4654"/>
          <a:stretch xmlns:a="http://schemas.openxmlformats.org/drawingml/2006/main">
            <a:fillRect l="0" t="0" r="0" b="0"/>
          </a:stretch>
        </p:blipFill>
        <p:spPr>
          <a:xfrm xmlns:a="http://schemas.openxmlformats.org/drawingml/2006/main">
            <a:off x="523577" y="1697310"/>
            <a:ext cx="3865959" cy="278271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BF3E6AD-3499-43B9-B645-368919F20472}"/>
              </a:ext>
            </a:extLst>
          </p:cNvPr>
          <p:cNvSpPr>
            <a:spLocks xmlns:a="http://schemas.openxmlformats.org/drawingml/2006/main" noGrp="1"/>
          </p:cNvSpPr>
          <p:nvPr/>
        </p:nvSpPr>
        <p:spPr>
          <a:xfrm xmlns:a="http://schemas.openxmlformats.org/drawingml/2006/main">
            <a:off x="4759226" y="1678632"/>
            <a:ext cx="2580010"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XGBoost — Default Model</a:t>
            </a:r>
          </a:p>
        </p:txBody>
      </p:sp>
      <p:sp>
        <p:nvSpPr>
          <p:cNvPr id="7" name="Text 4">
            <a:extLst xmlns:a="http://schemas.openxmlformats.org/drawingml/2006/main">
              <a:ext uri="{FF2B5EF4-FFF2-40B4-BE49-F238E27FC236}">
                <a16:creationId xmlns:a16="http://schemas.microsoft.com/office/drawing/2014/main" id="{14CBC5D2-1908-4106-A50A-C2FFE9ABD34B}"/>
              </a:ext>
            </a:extLst>
          </p:cNvPr>
          <p:cNvSpPr>
            <a:spLocks xmlns:a="http://schemas.openxmlformats.org/drawingml/2006/main" noGrp="1"/>
          </p:cNvSpPr>
          <p:nvPr/>
        </p:nvSpPr>
        <p:spPr>
          <a:xfrm xmlns:a="http://schemas.openxmlformats.org/drawingml/2006/main">
            <a:off x="4759226" y="2048173"/>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Recursive multi-step forecast from lag features plus month and week-of-year. Recent lags explain more of the short-term signal than a univariate seasonal structure alone.</a:t>
            </a:r>
          </a:p>
        </p:txBody>
      </p:sp>
      <p:sp>
        <p:nvSpPr>
          <p:cNvPr id="8" name="Text 5">
            <a:extLst xmlns:a="http://schemas.openxmlformats.org/drawingml/2006/main">
              <a:ext uri="{FF2B5EF4-FFF2-40B4-BE49-F238E27FC236}">
                <a16:creationId xmlns:a16="http://schemas.microsoft.com/office/drawing/2014/main" id="{320D6F7A-36B2-4E33-ADA4-72AF2BA878DF}"/>
              </a:ext>
            </a:extLst>
          </p:cNvPr>
          <p:cNvSpPr>
            <a:spLocks xmlns:a="http://schemas.openxmlformats.org/drawingml/2006/main" noGrp="1"/>
          </p:cNvSpPr>
          <p:nvPr/>
        </p:nvSpPr>
        <p:spPr>
          <a:xfrm xmlns:a="http://schemas.openxmlformats.org/drawingml/2006/main">
            <a:off x="4759226" y="2915915"/>
            <a:ext cx="2217316"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SARIMA — Baseline</a:t>
            </a:r>
          </a:p>
        </p:txBody>
      </p:sp>
      <p:sp>
        <p:nvSpPr>
          <p:cNvPr id="9" name="Text 6">
            <a:extLst xmlns:a="http://schemas.openxmlformats.org/drawingml/2006/main">
              <a:ext uri="{FF2B5EF4-FFF2-40B4-BE49-F238E27FC236}">
                <a16:creationId xmlns:a16="http://schemas.microsoft.com/office/drawing/2014/main" id="{13D6CDA9-078B-4D82-BEAF-1661A5661BF6}"/>
              </a:ext>
            </a:extLst>
          </p:cNvPr>
          <p:cNvSpPr>
            <a:spLocks xmlns:a="http://schemas.openxmlformats.org/drawingml/2006/main" noGrp="1"/>
          </p:cNvSpPr>
          <p:nvPr/>
        </p:nvSpPr>
        <p:spPr>
          <a:xfrm xmlns:a="http://schemas.openxmlformats.org/drawingml/2006/main">
            <a:off x="4759226" y="3285455"/>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Seasonal weekly time-series baseline: SARIMA(1,1,1)(1,1,1,52). Both models are available in the app, but XGBoost's lower holdout error makes it the default.</a:t>
            </a:r>
          </a:p>
        </p:txBody>
      </p:sp>
    </p:spTree>
    <p:extLst>
      <p:ext uri="{BB962C8B-B14F-4D97-AF65-F5344CB8AC3E}">
        <p14:creationId xmlns:p14="http://schemas.microsoft.com/office/powerpoint/2010/main" val="8235734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99F9AA-1E1F-46B4-A072-E5710A22E63C}"/>
              </a:ext>
            </a:extLst>
          </p:cNvPr>
          <p:cNvSpPr>
            <a:spLocks xmlns:a="http://schemas.openxmlformats.org/drawingml/2006/main" noGrp="1"/>
          </p:cNvSpPr>
          <p:nvPr/>
        </p:nvSpPr>
        <p:spPr>
          <a:xfrm xmlns:a="http://schemas.openxmlformats.org/drawingml/2006/main">
            <a:off x="482724" y="379288"/>
            <a:ext cx="593006" cy="155004"/>
          </a:xfrm>
          <a:prstGeom xmlns:a="http://schemas.openxmlformats.org/drawingml/2006/main" prst="roundRect">
            <a:avLst>
              <a:gd name="adj" fmla="val 69406"/>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67EDFE3-AAD3-4ED0-ABFB-56A81BE007AC}"/>
              </a:ext>
            </a:extLst>
          </p:cNvPr>
          <p:cNvSpPr>
            <a:spLocks xmlns:a="http://schemas.openxmlformats.org/drawingml/2006/main" noGrp="1"/>
          </p:cNvSpPr>
          <p:nvPr/>
        </p:nvSpPr>
        <p:spPr>
          <a:xfrm xmlns:a="http://schemas.openxmlformats.org/drawingml/2006/main">
            <a:off x="541213" y="410914"/>
            <a:ext cx="933227" cy="9175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550">
                <a:solidFill>
                  <a:srgbClr val="F2B42D"/>
                </a:solidFill>
                <a:latin typeface="PT Sans"/>
                <a:ea typeface="PT Sans"/>
                <a:cs typeface="PT Sans"/>
              </a:rPr>
              <a:t>ARCHITECTURE</a:t>
            </a:r>
          </a:p>
        </p:txBody>
      </p:sp>
      <p:sp>
        <p:nvSpPr>
          <p:cNvPr id="4" name="Text 2">
            <a:extLst xmlns:a="http://schemas.openxmlformats.org/drawingml/2006/main">
              <a:ext uri="{FF2B5EF4-FFF2-40B4-BE49-F238E27FC236}">
                <a16:creationId xmlns:a16="http://schemas.microsoft.com/office/drawing/2014/main" id="{96684B95-3793-4076-B6F2-856966B66D15}"/>
              </a:ext>
            </a:extLst>
          </p:cNvPr>
          <p:cNvSpPr>
            <a:spLocks xmlns:a="http://schemas.openxmlformats.org/drawingml/2006/main" noGrp="1"/>
          </p:cNvSpPr>
          <p:nvPr/>
        </p:nvSpPr>
        <p:spPr>
          <a:xfrm xmlns:a="http://schemas.openxmlformats.org/drawingml/2006/main">
            <a:off x="482724" y="555724"/>
            <a:ext cx="7257604" cy="263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FFFFFF"/>
                </a:solidFill>
                <a:latin typeface="Nunito SemiBold"/>
                <a:ea typeface="Nunito SemiBold"/>
                <a:cs typeface="Nunito SemiBold"/>
              </a:rPr>
              <a:t>The App and Model API Are Deployed as Separate Cloud Run Services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aa1fa61ead6b4638"/>
          <a:stretch xmlns:a="http://schemas.openxmlformats.org/drawingml/2006/main">
            <a:fillRect l="0" t="0" r="0" b="0"/>
          </a:stretch>
        </p:blipFill>
        <p:spPr>
          <a:xfrm xmlns:a="http://schemas.openxmlformats.org/drawingml/2006/main">
            <a:off x="1935882" y="899889"/>
            <a:ext cx="5272236" cy="227349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5AD0A51-0282-4B71-8EA2-D9B82DAF0315}"/>
              </a:ext>
            </a:extLst>
          </p:cNvPr>
          <p:cNvSpPr>
            <a:spLocks xmlns:a="http://schemas.openxmlformats.org/drawingml/2006/main" noGrp="1"/>
          </p:cNvSpPr>
          <p:nvPr/>
        </p:nvSpPr>
        <p:spPr>
          <a:xfrm xmlns:a="http://schemas.openxmlformats.org/drawingml/2006/main">
            <a:off x="2290660" y="274664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Cloud Run Services</a:t>
            </a:r>
          </a:p>
        </p:txBody>
      </p:sp>
      <p:sp>
        <p:nvSpPr>
          <p:cNvPr id="7" name="Text 4">
            <a:extLst xmlns:a="http://schemas.openxmlformats.org/drawingml/2006/main">
              <a:ext uri="{FF2B5EF4-FFF2-40B4-BE49-F238E27FC236}">
                <a16:creationId xmlns:a16="http://schemas.microsoft.com/office/drawing/2014/main" id="{2253F777-CF66-430A-B29B-86EB167DC697}"/>
              </a:ext>
            </a:extLst>
          </p:cNvPr>
          <p:cNvSpPr>
            <a:spLocks xmlns:a="http://schemas.openxmlformats.org/drawingml/2006/main" noGrp="1"/>
          </p:cNvSpPr>
          <p:nvPr/>
        </p:nvSpPr>
        <p:spPr>
          <a:xfrm xmlns:a="http://schemas.openxmlformats.org/drawingml/2006/main">
            <a:off x="2290660" y="222037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Model Files</a:t>
            </a:r>
          </a:p>
        </p:txBody>
      </p:sp>
      <p:sp>
        <p:nvSpPr>
          <p:cNvPr id="8" name="Text 5">
            <a:extLst xmlns:a="http://schemas.openxmlformats.org/drawingml/2006/main">
              <a:ext uri="{FF2B5EF4-FFF2-40B4-BE49-F238E27FC236}">
                <a16:creationId xmlns:a16="http://schemas.microsoft.com/office/drawing/2014/main" id="{9F6A3FDB-00D2-43D6-BBF1-B76E33581ED6}"/>
              </a:ext>
            </a:extLst>
          </p:cNvPr>
          <p:cNvSpPr>
            <a:spLocks xmlns:a="http://schemas.openxmlformats.org/drawingml/2006/main" noGrp="1"/>
          </p:cNvSpPr>
          <p:nvPr/>
        </p:nvSpPr>
        <p:spPr>
          <a:xfrm xmlns:a="http://schemas.openxmlformats.org/drawingml/2006/main">
            <a:off x="2290660" y="169940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Raw CSV</a:t>
            </a:r>
          </a:p>
        </p:txBody>
      </p:sp>
      <p:sp>
        <p:nvSpPr>
          <p:cNvPr id="9" name="Text 6">
            <a:extLst xmlns:a="http://schemas.openxmlformats.org/drawingml/2006/main">
              <a:ext uri="{FF2B5EF4-FFF2-40B4-BE49-F238E27FC236}">
                <a16:creationId xmlns:a16="http://schemas.microsoft.com/office/drawing/2014/main" id="{2563B224-C21C-4F91-A042-A60C0455F413}"/>
              </a:ext>
            </a:extLst>
          </p:cNvPr>
          <p:cNvSpPr>
            <a:spLocks xmlns:a="http://schemas.openxmlformats.org/drawingml/2006/main" noGrp="1"/>
          </p:cNvSpPr>
          <p:nvPr/>
        </p:nvSpPr>
        <p:spPr>
          <a:xfrm xmlns:a="http://schemas.openxmlformats.org/drawingml/2006/main">
            <a:off x="2290660" y="117313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EIA API</a:t>
            </a:r>
          </a:p>
        </p:txBody>
      </p:sp>
      <p:sp>
        <p:nvSpPr>
          <p:cNvPr id="10" name="Text 7">
            <a:extLst xmlns:a="http://schemas.openxmlformats.org/drawingml/2006/main">
              <a:ext uri="{FF2B5EF4-FFF2-40B4-BE49-F238E27FC236}">
                <a16:creationId xmlns:a16="http://schemas.microsoft.com/office/drawing/2014/main" id="{0CA84A72-E25E-4EEB-AA30-15074B2CC509}"/>
              </a:ext>
            </a:extLst>
          </p:cNvPr>
          <p:cNvSpPr>
            <a:spLocks xmlns:a="http://schemas.openxmlformats.org/drawingml/2006/main" noGrp="1"/>
          </p:cNvSpPr>
          <p:nvPr/>
        </p:nvSpPr>
        <p:spPr>
          <a:xfrm xmlns:a="http://schemas.openxmlformats.org/drawingml/2006/main">
            <a:off x="482724" y="3233812"/>
            <a:ext cx="8635752"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EIA data flows through a raw CSV snapshot into trained model artifacts, served by a Flask API and consumed by a separate Streamlit UI — both running on Cloud Run.</a:t>
            </a:r>
          </a:p>
        </p:txBody>
      </p:sp>
      <p:sp>
        <p:nvSpPr>
          <p:cNvPr id="11" name="Text 8">
            <a:extLst xmlns:a="http://schemas.openxmlformats.org/drawingml/2006/main">
              <a:ext uri="{FF2B5EF4-FFF2-40B4-BE49-F238E27FC236}">
                <a16:creationId xmlns:a16="http://schemas.microsoft.com/office/drawing/2014/main" id="{1B46970A-3483-4DE3-A95A-14044F330BAD}"/>
              </a:ext>
            </a:extLst>
          </p:cNvPr>
          <p:cNvSpPr>
            <a:spLocks xmlns:a="http://schemas.openxmlformats.org/drawingml/2006/main" noGrp="1"/>
          </p:cNvSpPr>
          <p:nvPr/>
        </p:nvSpPr>
        <p:spPr>
          <a:xfrm xmlns:a="http://schemas.openxmlformats.org/drawingml/2006/main">
            <a:off x="482724" y="3462561"/>
            <a:ext cx="1626245"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Why Separate Services?</a:t>
            </a:r>
          </a:p>
        </p:txBody>
      </p:sp>
      <p:sp>
        <p:nvSpPr>
          <p:cNvPr id="12" name="Text 9">
            <a:extLst xmlns:a="http://schemas.openxmlformats.org/drawingml/2006/main">
              <a:ext uri="{FF2B5EF4-FFF2-40B4-BE49-F238E27FC236}">
                <a16:creationId xmlns:a16="http://schemas.microsoft.com/office/drawing/2014/main" id="{F1E35EFB-681A-4D29-9D43-002F0436D5A1}"/>
              </a:ext>
            </a:extLst>
          </p:cNvPr>
          <p:cNvSpPr>
            <a:spLocks xmlns:a="http://schemas.openxmlformats.org/drawingml/2006/main" noGrp="1"/>
          </p:cNvSpPr>
          <p:nvPr/>
        </p:nvSpPr>
        <p:spPr>
          <a:xfrm xmlns:a="http://schemas.openxmlformats.org/drawingml/2006/main">
            <a:off x="482727" y="3647980"/>
            <a:ext cx="398145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07000"/>
              </a:lnSpc>
              <a:buChar char="•"/>
            </a:pPr>
            <a:r>
              <a:rPr sz="863">
                <a:solidFill>
                  <a:srgbClr val="F9FAFB"/>
                </a:solidFill>
                <a:latin typeface="PT Sans"/>
                <a:ea typeface="PT Sans"/>
                <a:cs typeface="PT Sans"/>
              </a:rPr>
              <a:t>UI and API deploy independently</a:t>
            </a:r>
          </a:p>
          <a:p xmlns:a="http://schemas.openxmlformats.org/drawingml/2006/main">
            <a:pPr marL="342900" indent="-342900" algn="l">
              <a:lnSpc>
                <a:spcPct val="107000"/>
              </a:lnSpc>
              <a:buChar char="•"/>
            </a:pPr>
            <a:r>
              <a:rPr sz="863">
                <a:solidFill>
                  <a:srgbClr val="F9FAFB"/>
                </a:solidFill>
                <a:latin typeface="PT Sans"/>
                <a:ea typeface="PT Sans"/>
                <a:cs typeface="PT Sans"/>
              </a:rPr>
              <a:t>API testable with curl/Postman</a:t>
            </a:r>
          </a:p>
          <a:p xmlns:a="http://schemas.openxmlformats.org/drawingml/2006/main">
            <a:pPr marL="342900" indent="-342900" algn="l">
              <a:lnSpc>
                <a:spcPct val="107000"/>
              </a:lnSpc>
              <a:buChar char="•"/>
            </a:pPr>
            <a:r>
              <a:rPr sz="863">
                <a:solidFill>
                  <a:srgbClr val="F9FAFB"/>
                </a:solidFill>
                <a:latin typeface="PT Sans"/>
                <a:ea typeface="PT Sans"/>
                <a:cs typeface="PT Sans"/>
              </a:rPr>
              <a:t>Artifact Registry stores images</a:t>
            </a:r>
          </a:p>
          <a:p xmlns:a="http://schemas.openxmlformats.org/drawingml/2006/main">
            <a:pPr marL="342900" indent="-342900" algn="l">
              <a:lnSpc>
                <a:spcPct val="107000"/>
              </a:lnSpc>
              <a:buChar char="•"/>
            </a:pPr>
            <a:r>
              <a:rPr sz="863">
                <a:solidFill>
                  <a:srgbClr val="F9FAFB"/>
                </a:solidFill>
                <a:latin typeface="PT Sans"/>
                <a:ea typeface="PT Sans"/>
                <a:cs typeface="PT Sans"/>
              </a:rPr>
              <a:t>API memory: 1 Gi for SARIMA</a:t>
            </a:r>
          </a:p>
        </p:txBody>
      </p:sp>
      <p:sp>
        <p:nvSpPr>
          <p:cNvPr id="13" name="Text 10">
            <a:extLst xmlns:a="http://schemas.openxmlformats.org/drawingml/2006/main">
              <a:ext uri="{FF2B5EF4-FFF2-40B4-BE49-F238E27FC236}">
                <a16:creationId xmlns:a16="http://schemas.microsoft.com/office/drawing/2014/main" id="{63C97FF3-94A0-45F6-BE48-E22D7404A5DC}"/>
              </a:ext>
            </a:extLst>
          </p:cNvPr>
          <p:cNvSpPr>
            <a:spLocks xmlns:a="http://schemas.openxmlformats.org/drawingml/2006/main" noGrp="1"/>
          </p:cNvSpPr>
          <p:nvPr/>
        </p:nvSpPr>
        <p:spPr>
          <a:xfrm xmlns:a="http://schemas.openxmlformats.org/drawingml/2006/main">
            <a:off x="4686077" y="3462561"/>
            <a:ext cx="15118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Endpoints</a:t>
            </a:r>
          </a:p>
        </p:txBody>
      </p:sp>
      <p:sp>
        <p:nvSpPr>
          <p:cNvPr id="14" name="Shape 11">
            <a:extLst xmlns:a="http://schemas.openxmlformats.org/drawingml/2006/main">
              <a:ext uri="{FF2B5EF4-FFF2-40B4-BE49-F238E27FC236}">
                <a16:creationId xmlns:a16="http://schemas.microsoft.com/office/drawing/2014/main" id="{DFAD3976-CB88-4FD1-BC47-732BB453CA2B}"/>
              </a:ext>
            </a:extLst>
          </p:cNvPr>
          <p:cNvSpPr>
            <a:spLocks xmlns:a="http://schemas.openxmlformats.org/drawingml/2006/main" noGrp="1"/>
          </p:cNvSpPr>
          <p:nvPr/>
        </p:nvSpPr>
        <p:spPr>
          <a:xfrm xmlns:a="http://schemas.openxmlformats.org/drawingml/2006/main">
            <a:off x="4686077" y="3654772"/>
            <a:ext cx="1963117"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64DC625-CDA8-419B-880F-3BA6F18228DC}"/>
              </a:ext>
            </a:extLst>
          </p:cNvPr>
          <p:cNvSpPr>
            <a:spLocks xmlns:a="http://schemas.openxmlformats.org/drawingml/2006/main" noGrp="1"/>
          </p:cNvSpPr>
          <p:nvPr/>
        </p:nvSpPr>
        <p:spPr>
          <a:xfrm xmlns:a="http://schemas.openxmlformats.org/drawingml/2006/main">
            <a:off x="478519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/health</a:t>
            </a:r>
          </a:p>
        </p:txBody>
      </p:sp>
      <p:sp>
        <p:nvSpPr>
          <p:cNvPr id="16" name="Text 13">
            <a:extLst xmlns:a="http://schemas.openxmlformats.org/drawingml/2006/main">
              <a:ext uri="{FF2B5EF4-FFF2-40B4-BE49-F238E27FC236}">
                <a16:creationId xmlns:a16="http://schemas.microsoft.com/office/drawing/2014/main" id="{33C2CDF6-BBC7-4F0E-81F4-D5F819F4B338}"/>
              </a:ext>
            </a:extLst>
          </p:cNvPr>
          <p:cNvSpPr>
            <a:spLocks xmlns:a="http://schemas.openxmlformats.org/drawingml/2006/main" noGrp="1"/>
          </p:cNvSpPr>
          <p:nvPr/>
        </p:nvSpPr>
        <p:spPr>
          <a:xfrm xmlns:a="http://schemas.openxmlformats.org/drawingml/2006/main">
            <a:off x="4785196" y="3939332"/>
            <a:ext cx="1764878"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Liveness check</a:t>
            </a:r>
          </a:p>
        </p:txBody>
      </p:sp>
      <p:sp>
        <p:nvSpPr>
          <p:cNvPr id="17" name="Shape 14">
            <a:extLst xmlns:a="http://schemas.openxmlformats.org/drawingml/2006/main">
              <a:ext uri="{FF2B5EF4-FFF2-40B4-BE49-F238E27FC236}">
                <a16:creationId xmlns:a16="http://schemas.microsoft.com/office/drawing/2014/main" id="{F77B8F2D-912F-4F07-8A0D-6AF7AAAAC196}"/>
              </a:ext>
            </a:extLst>
          </p:cNvPr>
          <p:cNvSpPr>
            <a:spLocks xmlns:a="http://schemas.openxmlformats.org/drawingml/2006/main" noGrp="1"/>
          </p:cNvSpPr>
          <p:nvPr/>
        </p:nvSpPr>
        <p:spPr>
          <a:xfrm xmlns:a="http://schemas.openxmlformats.org/drawingml/2006/main">
            <a:off x="6702847" y="3654772"/>
            <a:ext cx="196319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20992D9A-E057-42D4-8914-67FF5B680E1F}"/>
              </a:ext>
            </a:extLst>
          </p:cNvPr>
          <p:cNvSpPr>
            <a:spLocks xmlns:a="http://schemas.openxmlformats.org/drawingml/2006/main" noGrp="1"/>
          </p:cNvSpPr>
          <p:nvPr/>
        </p:nvSpPr>
        <p:spPr>
          <a:xfrm xmlns:a="http://schemas.openxmlformats.org/drawingml/2006/main">
            <a:off x="680196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/metadata</a:t>
            </a:r>
          </a:p>
        </p:txBody>
      </p:sp>
      <p:sp>
        <p:nvSpPr>
          <p:cNvPr id="19" name="Text 16">
            <a:extLst xmlns:a="http://schemas.openxmlformats.org/drawingml/2006/main">
              <a:ext uri="{FF2B5EF4-FFF2-40B4-BE49-F238E27FC236}">
                <a16:creationId xmlns:a16="http://schemas.microsoft.com/office/drawing/2014/main" id="{38129D8E-91C7-48C8-A345-60F6D9ED5C21}"/>
              </a:ext>
            </a:extLst>
          </p:cNvPr>
          <p:cNvSpPr>
            <a:spLocks xmlns:a="http://schemas.openxmlformats.org/drawingml/2006/main" noGrp="1"/>
          </p:cNvSpPr>
          <p:nvPr/>
        </p:nvSpPr>
        <p:spPr>
          <a:xfrm xmlns:a="http://schemas.openxmlformats.org/drawingml/2006/main">
            <a:off x="6801966" y="3939332"/>
            <a:ext cx="176495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Model info</a:t>
            </a:r>
          </a:p>
        </p:txBody>
      </p:sp>
      <p:sp>
        <p:nvSpPr>
          <p:cNvPr id="20" name="Shape 17">
            <a:extLst xmlns:a="http://schemas.openxmlformats.org/drawingml/2006/main">
              <a:ext uri="{FF2B5EF4-FFF2-40B4-BE49-F238E27FC236}">
                <a16:creationId xmlns:a16="http://schemas.microsoft.com/office/drawing/2014/main" id="{AB2761A1-E6D5-4FA8-8CF8-69779C173769}"/>
              </a:ext>
            </a:extLst>
          </p:cNvPr>
          <p:cNvSpPr>
            <a:spLocks xmlns:a="http://schemas.openxmlformats.org/drawingml/2006/main" noGrp="1"/>
          </p:cNvSpPr>
          <p:nvPr/>
        </p:nvSpPr>
        <p:spPr>
          <a:xfrm xmlns:a="http://schemas.openxmlformats.org/drawingml/2006/main">
            <a:off x="4686077" y="4206776"/>
            <a:ext cx="397996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D785E"/>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381D479-CFC3-4854-BAC0-4653101EB38E}"/>
              </a:ext>
            </a:extLst>
          </p:cNvPr>
          <p:cNvSpPr>
            <a:spLocks xmlns:a="http://schemas.openxmlformats.org/drawingml/2006/main" noGrp="1"/>
          </p:cNvSpPr>
          <p:nvPr/>
        </p:nvSpPr>
        <p:spPr>
          <a:xfrm xmlns:a="http://schemas.openxmlformats.org/drawingml/2006/main">
            <a:off x="4785196" y="4305895"/>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/predict</a:t>
            </a:r>
          </a:p>
        </p:txBody>
      </p:sp>
      <p:sp>
        <p:nvSpPr>
          <p:cNvPr id="22" name="Text 19">
            <a:extLst xmlns:a="http://schemas.openxmlformats.org/drawingml/2006/main">
              <a:ext uri="{FF2B5EF4-FFF2-40B4-BE49-F238E27FC236}">
                <a16:creationId xmlns:a16="http://schemas.microsoft.com/office/drawing/2014/main" id="{DCC7116B-50B8-4170-851D-CD1CB2C28CC7}"/>
              </a:ext>
            </a:extLst>
          </p:cNvPr>
          <p:cNvSpPr>
            <a:spLocks xmlns:a="http://schemas.openxmlformats.org/drawingml/2006/main" noGrp="1"/>
          </p:cNvSpPr>
          <p:nvPr/>
        </p:nvSpPr>
        <p:spPr>
          <a:xfrm xmlns:a="http://schemas.openxmlformats.org/drawingml/2006/main">
            <a:off x="4785196" y="4491335"/>
            <a:ext cx="378172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Forecast JSON</a:t>
            </a:r>
          </a:p>
        </p:txBody>
      </p:sp>
    </p:spTree>
    <p:extLst>
      <p:ext uri="{BB962C8B-B14F-4D97-AF65-F5344CB8AC3E}">
        <p14:creationId xmlns:p14="http://schemas.microsoft.com/office/powerpoint/2010/main" val="17792985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A2338C8B-52B6-4EDE-B908-2CE829327E80}"/>
              </a:ext>
            </a:extLst>
          </p:cNvPr>
          <p:cNvSpPr>
            <a:spLocks xmlns:a="http://schemas.openxmlformats.org/drawingml/2006/main" noGrp="1"/>
          </p:cNvSpPr>
          <p:nvPr/>
        </p:nvSpPr>
        <p:spPr>
          <a:xfrm xmlns:a="http://schemas.openxmlformats.org/drawingml/2006/main">
            <a:off x="3952577" y="555501"/>
            <a:ext cx="512415" cy="180008"/>
          </a:xfrm>
          <a:prstGeom xmlns:a="http://schemas.openxmlformats.org/drawingml/2006/main" prst="roundRect">
            <a:avLst>
              <a:gd name="adj" fmla="val 64829"/>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3ED3480-CFBF-4EB1-8C3A-72A97C200D33}"/>
              </a:ext>
            </a:extLst>
          </p:cNvPr>
          <p:cNvSpPr>
            <a:spLocks xmlns:a="http://schemas.openxmlformats.org/drawingml/2006/main" noGrp="1"/>
          </p:cNvSpPr>
          <p:nvPr/>
        </p:nvSpPr>
        <p:spPr>
          <a:xfrm xmlns:a="http://schemas.openxmlformats.org/drawingml/2006/main">
            <a:off x="4020443" y="594196"/>
            <a:ext cx="833884" cy="10261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600">
                <a:solidFill>
                  <a:srgbClr val="F2B42D"/>
                </a:solidFill>
                <a:latin typeface="PT Sans"/>
                <a:ea typeface="PT Sans"/>
                <a:cs typeface="PT Sans"/>
              </a:rPr>
              <a:t>LIVE DEMO</a:t>
            </a:r>
          </a:p>
        </p:txBody>
      </p:sp>
      <p:sp>
        <p:nvSpPr>
          <p:cNvPr id="5" name="Text 2">
            <a:extLst xmlns:a="http://schemas.openxmlformats.org/drawingml/2006/main">
              <a:ext uri="{FF2B5EF4-FFF2-40B4-BE49-F238E27FC236}">
                <a16:creationId xmlns:a16="http://schemas.microsoft.com/office/drawing/2014/main" id="{B053F719-A551-49F4-975A-B7D2BA1C8A4A}"/>
              </a:ext>
            </a:extLst>
          </p:cNvPr>
          <p:cNvSpPr>
            <a:spLocks xmlns:a="http://schemas.openxmlformats.org/drawingml/2006/main" noGrp="1"/>
          </p:cNvSpPr>
          <p:nvPr/>
        </p:nvSpPr>
        <p:spPr>
          <a:xfrm xmlns:a="http://schemas.openxmlformats.org/drawingml/2006/main">
            <a:off x="3952589" y="760762"/>
            <a:ext cx="4667822"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913" b="1">
                <a:solidFill>
                  <a:srgbClr val="F9FAFB"/>
                </a:solidFill>
                <a:latin typeface="Nunito SemiBold"/>
                <a:ea typeface="Nunito SemiBold"/>
                <a:cs typeface="Nunito SemiBold"/>
              </a:rPr>
              <a:t>The Demo Shows Streamlit Calling Flask in Real Time</a:t>
            </a:r>
          </a:p>
        </p:txBody>
      </p:sp>
      <p:sp>
        <p:nvSpPr>
          <p:cNvPr id="6" name="Text 3">
            <a:extLst xmlns:a="http://schemas.openxmlformats.org/drawingml/2006/main">
              <a:ext uri="{FF2B5EF4-FFF2-40B4-BE49-F238E27FC236}">
                <a16:creationId xmlns:a16="http://schemas.microsoft.com/office/drawing/2014/main" id="{6419C939-1D29-40E4-8970-C8E1810E1BDB}"/>
              </a:ext>
            </a:extLst>
          </p:cNvPr>
          <p:cNvSpPr>
            <a:spLocks xmlns:a="http://schemas.openxmlformats.org/drawingml/2006/main" noGrp="1"/>
          </p:cNvSpPr>
          <p:nvPr/>
        </p:nvSpPr>
        <p:spPr>
          <a:xfrm xmlns:a="http://schemas.openxmlformats.org/drawingml/2006/main">
            <a:off x="3952577" y="1427485"/>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01</a:t>
            </a:r>
          </a:p>
        </p:txBody>
      </p:sp>
      <p:sp>
        <p:nvSpPr>
          <p:cNvPr id="7" name="Shape 4">
            <a:extLst xmlns:a="http://schemas.openxmlformats.org/drawingml/2006/main">
              <a:ext uri="{FF2B5EF4-FFF2-40B4-BE49-F238E27FC236}">
                <a16:creationId xmlns:a16="http://schemas.microsoft.com/office/drawing/2014/main" id="{DE444F4C-06B5-41EE-92F4-A3879D796C55}"/>
              </a:ext>
            </a:extLst>
          </p:cNvPr>
          <p:cNvSpPr>
            <a:spLocks xmlns:a="http://schemas.openxmlformats.org/drawingml/2006/main" noGrp="1"/>
          </p:cNvSpPr>
          <p:nvPr/>
        </p:nvSpPr>
        <p:spPr>
          <a:xfrm xmlns:a="http://schemas.openxmlformats.org/drawingml/2006/main">
            <a:off x="3952577" y="1578397"/>
            <a:ext cx="4667845" cy="14288"/>
          </a:xfrm>
          <a:prstGeom xmlns:a="http://schemas.openxmlformats.org/drawingml/2006/main" prst="rect">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378FD59E-E7BA-4714-B0E2-56D365F3BC91}"/>
              </a:ext>
            </a:extLst>
          </p:cNvPr>
          <p:cNvSpPr>
            <a:spLocks xmlns:a="http://schemas.openxmlformats.org/drawingml/2006/main" noGrp="1"/>
          </p:cNvSpPr>
          <p:nvPr/>
        </p:nvSpPr>
        <p:spPr>
          <a:xfrm xmlns:a="http://schemas.openxmlformats.org/drawingml/2006/main">
            <a:off x="3952577" y="1655564"/>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Choose Method</a:t>
            </a:r>
          </a:p>
        </p:txBody>
      </p:sp>
      <p:sp>
        <p:nvSpPr>
          <p:cNvPr id="9" name="Text 6">
            <a:extLst xmlns:a="http://schemas.openxmlformats.org/drawingml/2006/main">
              <a:ext uri="{FF2B5EF4-FFF2-40B4-BE49-F238E27FC236}">
                <a16:creationId xmlns:a16="http://schemas.microsoft.com/office/drawing/2014/main" id="{31354DDC-F850-4632-A3F3-F9DAB902C247}"/>
              </a:ext>
            </a:extLst>
          </p:cNvPr>
          <p:cNvSpPr>
            <a:spLocks xmlns:a="http://schemas.openxmlformats.org/drawingml/2006/main" noGrp="1"/>
          </p:cNvSpPr>
          <p:nvPr/>
        </p:nvSpPr>
        <p:spPr>
          <a:xfrm xmlns:a="http://schemas.openxmlformats.org/drawingml/2006/main">
            <a:off x="3952589" y="1836420"/>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Select XGBoost or SARIMA, then set the forecast horizon.</a:t>
            </a:r>
          </a:p>
        </p:txBody>
      </p:sp>
      <p:sp>
        <p:nvSpPr>
          <p:cNvPr id="10" name="Text 7">
            <a:extLst xmlns:a="http://schemas.openxmlformats.org/drawingml/2006/main">
              <a:ext uri="{FF2B5EF4-FFF2-40B4-BE49-F238E27FC236}">
                <a16:creationId xmlns:a16="http://schemas.microsoft.com/office/drawing/2014/main" id="{867AF3B6-A201-4A83-B758-034D6B9784DA}"/>
              </a:ext>
            </a:extLst>
          </p:cNvPr>
          <p:cNvSpPr>
            <a:spLocks xmlns:a="http://schemas.openxmlformats.org/drawingml/2006/main" noGrp="1"/>
          </p:cNvSpPr>
          <p:nvPr/>
        </p:nvSpPr>
        <p:spPr>
          <a:xfrm xmlns:a="http://schemas.openxmlformats.org/drawingml/2006/main">
            <a:off x="3952577" y="2100858"/>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02</a:t>
            </a:r>
          </a:p>
        </p:txBody>
      </p:sp>
      <p:sp>
        <p:nvSpPr>
          <p:cNvPr id="11" name="Shape 8">
            <a:extLst xmlns:a="http://schemas.openxmlformats.org/drawingml/2006/main">
              <a:ext uri="{FF2B5EF4-FFF2-40B4-BE49-F238E27FC236}">
                <a16:creationId xmlns:a16="http://schemas.microsoft.com/office/drawing/2014/main" id="{231B8FC0-AEF2-47FD-8B51-CF4014C1645D}"/>
              </a:ext>
            </a:extLst>
          </p:cNvPr>
          <p:cNvSpPr>
            <a:spLocks xmlns:a="http://schemas.openxmlformats.org/drawingml/2006/main" noGrp="1"/>
          </p:cNvSpPr>
          <p:nvPr/>
        </p:nvSpPr>
        <p:spPr>
          <a:xfrm xmlns:a="http://schemas.openxmlformats.org/drawingml/2006/main">
            <a:off x="3952577" y="2251770"/>
            <a:ext cx="4667845" cy="14288"/>
          </a:xfrm>
          <a:prstGeom xmlns:a="http://schemas.openxmlformats.org/drawingml/2006/main" prst="rect">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AFCCAA8-D5CB-4CD1-A3C4-B1E0ABB0B286}"/>
              </a:ext>
            </a:extLst>
          </p:cNvPr>
          <p:cNvSpPr>
            <a:spLocks xmlns:a="http://schemas.openxmlformats.org/drawingml/2006/main" noGrp="1"/>
          </p:cNvSpPr>
          <p:nvPr/>
        </p:nvSpPr>
        <p:spPr>
          <a:xfrm xmlns:a="http://schemas.openxmlformats.org/drawingml/2006/main">
            <a:off x="3952577" y="2328937"/>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013" b="1">
                <a:solidFill>
                  <a:srgbClr val="F9FAFB"/>
                </a:solidFill>
                <a:latin typeface="Nunito SemiBold"/>
                <a:ea typeface="Nunito SemiBold"/>
                <a:cs typeface="Nunito SemiBold"/>
              </a:rPr>
              <a:t>Submit Forecast</a:t>
            </a:r>
          </a:p>
        </p:txBody>
      </p:sp>
      <p:sp>
        <p:nvSpPr>
          <p:cNvPr id="13" name="Text 10">
            <a:extLst xmlns:a="http://schemas.openxmlformats.org/drawingml/2006/main">
              <a:ext uri="{FF2B5EF4-FFF2-40B4-BE49-F238E27FC236}">
                <a16:creationId xmlns:a16="http://schemas.microsoft.com/office/drawing/2014/main" id="{DCFB37F0-6666-4047-9748-70EF987A1446}"/>
              </a:ext>
            </a:extLst>
          </p:cNvPr>
          <p:cNvSpPr>
            <a:spLocks xmlns:a="http://schemas.openxmlformats.org/drawingml/2006/main" noGrp="1"/>
          </p:cNvSpPr>
          <p:nvPr/>
        </p:nvSpPr>
        <p:spPr>
          <a:xfrm xmlns:a="http://schemas.openxmlformats.org/drawingml/2006/main">
            <a:off x="3952589" y="2509742"/>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Streamlit sends horizon + method to Flask /predict.</a:t>
            </a:r>
          </a:p>
        </p:txBody>
      </p:sp>
      <p:sp>
        <p:nvSpPr>
          <p:cNvPr id="14" name="Text 11">
            <a:extLst xmlns:a="http://schemas.openxmlformats.org/drawingml/2006/main">
              <a:ext uri="{FF2B5EF4-FFF2-40B4-BE49-F238E27FC236}">
                <a16:creationId xmlns:a16="http://schemas.microsoft.com/office/drawing/2014/main" id="{B8D57E39-F070-4345-BC1A-191BD96624AB}"/>
              </a:ext>
            </a:extLst>
          </p:cNvPr>
          <p:cNvSpPr>
            <a:spLocks xmlns:a="http://schemas.openxmlformats.org/drawingml/2006/main" noGrp="1"/>
          </p:cNvSpPr>
          <p:nvPr/>
        </p:nvSpPr>
        <p:spPr>
          <a:xfrm xmlns:a="http://schemas.openxmlformats.org/drawingml/2006/main">
            <a:off x="3952577" y="2774231"/>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03</a:t>
            </a:r>
          </a:p>
        </p:txBody>
      </p:sp>
      <p:sp>
        <p:nvSpPr>
          <p:cNvPr id="15" name="Shape 12">
            <a:extLst xmlns:a="http://schemas.openxmlformats.org/drawingml/2006/main">
              <a:ext uri="{FF2B5EF4-FFF2-40B4-BE49-F238E27FC236}">
                <a16:creationId xmlns:a16="http://schemas.microsoft.com/office/drawing/2014/main" id="{FE83ECF7-BC45-4529-90E7-3548B153ADF6}"/>
              </a:ext>
            </a:extLst>
          </p:cNvPr>
          <p:cNvSpPr>
            <a:spLocks xmlns:a="http://schemas.openxmlformats.org/drawingml/2006/main" noGrp="1"/>
          </p:cNvSpPr>
          <p:nvPr/>
        </p:nvSpPr>
        <p:spPr>
          <a:xfrm xmlns:a="http://schemas.openxmlformats.org/drawingml/2006/main">
            <a:off x="3952577" y="2925142"/>
            <a:ext cx="4667845" cy="14288"/>
          </a:xfrm>
          <a:prstGeom xmlns:a="http://schemas.openxmlformats.org/drawingml/2006/main" prst="rect">
            <a:avLst/>
          </a:prstGeom>
          <a:solidFill xmlns:a="http://schemas.openxmlformats.org/drawingml/2006/main">
            <a:srgbClr val="DD785E"/>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37AD6019-4F79-42A3-A615-655DBF664F81}"/>
              </a:ext>
            </a:extLst>
          </p:cNvPr>
          <p:cNvSpPr>
            <a:spLocks xmlns:a="http://schemas.openxmlformats.org/drawingml/2006/main" noGrp="1"/>
          </p:cNvSpPr>
          <p:nvPr/>
        </p:nvSpPr>
        <p:spPr>
          <a:xfrm xmlns:a="http://schemas.openxmlformats.org/drawingml/2006/main">
            <a:off x="3952577" y="3002310"/>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API Forecast</a:t>
            </a:r>
          </a:p>
        </p:txBody>
      </p:sp>
      <p:sp>
        <p:nvSpPr>
          <p:cNvPr id="17" name="Text 14">
            <a:extLst xmlns:a="http://schemas.openxmlformats.org/drawingml/2006/main">
              <a:ext uri="{FF2B5EF4-FFF2-40B4-BE49-F238E27FC236}">
                <a16:creationId xmlns:a16="http://schemas.microsoft.com/office/drawing/2014/main" id="{DEB24296-17EB-4380-8F78-A9C6F3869680}"/>
              </a:ext>
            </a:extLst>
          </p:cNvPr>
          <p:cNvSpPr>
            <a:spLocks xmlns:a="http://schemas.openxmlformats.org/drawingml/2006/main" noGrp="1"/>
          </p:cNvSpPr>
          <p:nvPr/>
        </p:nvSpPr>
        <p:spPr>
          <a:xfrm xmlns:a="http://schemas.openxmlformats.org/drawingml/2006/main">
            <a:off x="3952589" y="3183160"/>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Consolas"/>
                <a:ea typeface="Consolas"/>
                <a:cs typeface="Consolas"/>
              </a:rPr>
              <a:t>Flask loads the trained model and returns weekly JSON forecasts.</a:t>
            </a:r>
          </a:p>
        </p:txBody>
      </p:sp>
      <p:sp>
        <p:nvSpPr>
          <p:cNvPr id="18" name="Text 15">
            <a:extLst xmlns:a="http://schemas.openxmlformats.org/drawingml/2006/main">
              <a:ext uri="{FF2B5EF4-FFF2-40B4-BE49-F238E27FC236}">
                <a16:creationId xmlns:a16="http://schemas.microsoft.com/office/drawing/2014/main" id="{E5B6FDC9-EAB8-4D72-84C0-6AB0CD39CDA6}"/>
              </a:ext>
            </a:extLst>
          </p:cNvPr>
          <p:cNvSpPr>
            <a:spLocks xmlns:a="http://schemas.openxmlformats.org/drawingml/2006/main" noGrp="1"/>
          </p:cNvSpPr>
          <p:nvPr/>
        </p:nvSpPr>
        <p:spPr>
          <a:xfrm xmlns:a="http://schemas.openxmlformats.org/drawingml/2006/main">
            <a:off x="3952577" y="3452366"/>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04</a:t>
            </a:r>
          </a:p>
        </p:txBody>
      </p:sp>
      <p:sp>
        <p:nvSpPr>
          <p:cNvPr id="19" name="Shape 16">
            <a:extLst xmlns:a="http://schemas.openxmlformats.org/drawingml/2006/main">
              <a:ext uri="{FF2B5EF4-FFF2-40B4-BE49-F238E27FC236}">
                <a16:creationId xmlns:a16="http://schemas.microsoft.com/office/drawing/2014/main" id="{21E4C06D-ED8E-4572-AFAE-540F5CCC4761}"/>
              </a:ext>
            </a:extLst>
          </p:cNvPr>
          <p:cNvSpPr>
            <a:spLocks xmlns:a="http://schemas.openxmlformats.org/drawingml/2006/main" noGrp="1"/>
          </p:cNvSpPr>
          <p:nvPr/>
        </p:nvSpPr>
        <p:spPr>
          <a:xfrm xmlns:a="http://schemas.openxmlformats.org/drawingml/2006/main">
            <a:off x="3952577" y="3603278"/>
            <a:ext cx="4667845" cy="14288"/>
          </a:xfrm>
          <a:prstGeom xmlns:a="http://schemas.openxmlformats.org/drawingml/2006/main" prst="rect">
            <a:avLst/>
          </a:prstGeom>
          <a:solidFill xmlns:a="http://schemas.openxmlformats.org/drawingml/2006/main">
            <a:srgbClr val="48A8E2"/>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81E44DF2-57B0-433B-8B70-872D9502755D}"/>
              </a:ext>
            </a:extLst>
          </p:cNvPr>
          <p:cNvSpPr>
            <a:spLocks xmlns:a="http://schemas.openxmlformats.org/drawingml/2006/main" noGrp="1"/>
          </p:cNvSpPr>
          <p:nvPr/>
        </p:nvSpPr>
        <p:spPr>
          <a:xfrm xmlns:a="http://schemas.openxmlformats.org/drawingml/2006/main">
            <a:off x="3952577" y="3680445"/>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View Results</a:t>
            </a:r>
          </a:p>
        </p:txBody>
      </p:sp>
      <p:sp>
        <p:nvSpPr>
          <p:cNvPr id="21" name="Text 18">
            <a:extLst xmlns:a="http://schemas.openxmlformats.org/drawingml/2006/main">
              <a:ext uri="{FF2B5EF4-FFF2-40B4-BE49-F238E27FC236}">
                <a16:creationId xmlns:a16="http://schemas.microsoft.com/office/drawing/2014/main" id="{C49207B3-1A7D-4C21-BB59-3933DD7CD28E}"/>
              </a:ext>
            </a:extLst>
          </p:cNvPr>
          <p:cNvSpPr>
            <a:spLocks xmlns:a="http://schemas.openxmlformats.org/drawingml/2006/main" noGrp="1"/>
          </p:cNvSpPr>
          <p:nvPr/>
        </p:nvSpPr>
        <p:spPr>
          <a:xfrm xmlns:a="http://schemas.openxmlformats.org/drawingml/2006/main">
            <a:off x="3952589" y="3861245"/>
            <a:ext cx="4667822" cy="2857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The app displays the forecast chart/table while the raw API call proves the backend works independently.</a:t>
            </a:r>
          </a:p>
        </p:txBody>
      </p:sp>
      <p:sp>
        <p:nvSpPr>
          <p:cNvPr id="22" name="Shape 19">
            <a:extLst xmlns:a="http://schemas.openxmlformats.org/drawingml/2006/main">
              <a:ext uri="{FF2B5EF4-FFF2-40B4-BE49-F238E27FC236}">
                <a16:creationId xmlns:a16="http://schemas.microsoft.com/office/drawing/2014/main" id="{2B4E6D68-68D1-44DD-A399-2F4CA23B606F}"/>
              </a:ext>
            </a:extLst>
          </p:cNvPr>
          <p:cNvSpPr>
            <a:spLocks xmlns:a="http://schemas.openxmlformats.org/drawingml/2006/main" noGrp="1"/>
          </p:cNvSpPr>
          <p:nvPr/>
        </p:nvSpPr>
        <p:spPr>
          <a:xfrm xmlns:a="http://schemas.openxmlformats.org/drawingml/2006/main">
            <a:off x="3952577" y="4133627"/>
            <a:ext cx="4667845" cy="454372"/>
          </a:xfrm>
          <a:prstGeom xmlns:a="http://schemas.openxmlformats.org/drawingml/2006/main" prst="roundRect">
            <a:avLst>
              <a:gd name="adj" fmla="val 32104"/>
            </a:avLst>
          </a:prstGeom>
          <a:solidFill xmlns:a="http://schemas.openxmlformats.org/drawingml/2006/main">
            <a:srgbClr val="022349"/>
          </a:solidFill>
        </p:spPr>
        <p:txBody>
          <a:bodyPr xmlns:a="http://schemas.openxmlformats.org/drawingml/2006/main"/>
          <a:lstStyle xmlns:a="http://schemas.openxmlformats.org/drawingml/2006/main"/>
          <a:p xmlns:a="http://schemas.openxmlformats.org/drawingml/2006/main"/>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e810a6c7b1044c00"/>
          <a:stretch xmlns:a="http://schemas.openxmlformats.org/drawingml/2006/main">
            <a:fillRect l="0" t="0" r="0" b="0"/>
          </a:stretch>
        </p:blipFill>
        <p:spPr>
          <a:xfrm xmlns:a="http://schemas.openxmlformats.org/drawingml/2006/main">
            <a:off x="4049762" y="4265265"/>
            <a:ext cx="121518" cy="97185"/>
          </a:xfrm>
          <a:prstGeom xmlns:a="http://schemas.openxmlformats.org/drawingml/2006/main" prst="rect">
            <a:avLst/>
          </a:prstGeom>
        </p:spPr>
      </p:pic>
      <p:sp>
        <p:nvSpPr>
          <p:cNvPr id="24" name="Text 20">
            <a:extLst xmlns:a="http://schemas.openxmlformats.org/drawingml/2006/main">
              <a:ext uri="{FF2B5EF4-FFF2-40B4-BE49-F238E27FC236}">
                <a16:creationId xmlns:a16="http://schemas.microsoft.com/office/drawing/2014/main" id="{DE35904E-0D35-4E65-88DA-80C9210B74F5}"/>
              </a:ext>
            </a:extLst>
          </p:cNvPr>
          <p:cNvSpPr>
            <a:spLocks xmlns:a="http://schemas.openxmlformats.org/drawingml/2006/main" noGrp="1"/>
          </p:cNvSpPr>
          <p:nvPr/>
        </p:nvSpPr>
        <p:spPr>
          <a:xfrm xmlns:a="http://schemas.openxmlformats.org/drawingml/2006/main">
            <a:off x="4268438" y="4210050"/>
            <a:ext cx="4254818"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0000"/>
              </a:lnSpc>
              <a:buNone/>
            </a:pPr>
            <a:r>
              <a:rPr sz="840" b="1">
                <a:solidFill>
                  <a:srgbClr val="F9FAFB"/>
                </a:solidFill>
                <a:latin typeface="PT Sans"/>
                <a:ea typeface="PT Sans"/>
                <a:cs typeface="PT Sans"/>
              </a:rPr>
              <a:t>Live demo links: Streamlit app + POST https://fuel-price-api-oluqiqxkmq-uw.a.run.app/predict</a:t>
            </a:r>
          </a:p>
        </p:txBody>
      </p:sp>
      <p:sp>
        <p:nvSpPr>
          <p:cNvPr id="27" name="">
            <a:extLst xmlns:a="http://schemas.openxmlformats.org/drawingml/2006/main">
              <a:ext uri="{FF2B5EF4-FFF2-40B4-BE49-F238E27FC236}">
                <a16:creationId xmlns:a16="http://schemas.microsoft.com/office/drawing/2014/main" id="{F2A04EC9-2EF2-463F-9661-87E289ABA512}"/>
              </a:ext>
            </a:extLst>
          </p:cNvPr>
          <p:cNvSpPr>
            <a:spLocks xmlns:a="http://schemas.openxmlformats.org/drawingml/2006/main" noGrp="1"/>
          </p:cNvSpPr>
          <p:nvPr/>
        </p:nvSpPr>
        <p:spPr>
          <a:xfrm xmlns:a="http://schemas.openxmlformats.org/drawingml/2006/main">
            <a:off x="0" y="0"/>
            <a:ext cx="3429000" cy="5143500"/>
          </a:xfrm>
          <a:prstGeom xmlns:a="http://schemas.openxmlformats.org/drawingml/2006/main" prst="rect">
            <a:avLst/>
          </a:prstGeom>
          <a:solidFill xmlns:a="http://schemas.openxmlformats.org/drawingml/2006/main">
            <a:srgbClr val="0B1220"/>
          </a:solidFill>
          <a:ln xmlns:a="http://schemas.openxmlformats.org/drawingml/2006/main" w="0">
            <a:solidFill>
              <a:srgbClr val="0B1220"/>
            </a:solidFill>
          </a:ln>
        </p:spPr>
      </p:sp>
      <p:sp>
        <p:nvSpPr>
          <p:cNvPr id="28" name="">
            <a:extLst xmlns:a="http://schemas.openxmlformats.org/drawingml/2006/main">
              <a:ext uri="{FF2B5EF4-FFF2-40B4-BE49-F238E27FC236}">
                <a16:creationId xmlns:a16="http://schemas.microsoft.com/office/drawing/2014/main" id="{4967229B-B648-4D55-8A2F-9E164D89A508}"/>
              </a:ext>
            </a:extLst>
          </p:cNvPr>
          <p:cNvSpPr>
            <a:spLocks xmlns:a="http://schemas.openxmlformats.org/drawingml/2006/main" noGrp="1"/>
          </p:cNvSpPr>
          <p:nvPr/>
        </p:nvSpPr>
        <p:spPr>
          <a:xfrm xmlns:a="http://schemas.openxmlformats.org/drawingml/2006/main">
            <a:off x="228600" y="285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93C5FD"/>
                </a:solidFill>
                <a:latin typeface="Aptos"/>
                <a:ea typeface="Aptos"/>
                <a:cs typeface="Aptos"/>
              </a:defRPr>
            </a:pPr>
            <a:r>
              <a:rPr sz="863" b="1">
                <a:solidFill>
                  <a:srgbClr val="93C5FD"/>
                </a:solidFill>
                <a:latin typeface="Aptos"/>
                <a:ea typeface="Aptos"/>
                <a:cs typeface="Aptos"/>
              </a:rPr>
              <a:t>LIVE APP SCREENSHOTS</a:t>
            </a:r>
          </a:p>
        </p:txBody>
      </p:sp>
      <p:sp>
        <p:nvSpPr>
          <p:cNvPr id="29" name="">
            <a:extLst xmlns:a="http://schemas.openxmlformats.org/drawingml/2006/main">
              <a:ext uri="{FF2B5EF4-FFF2-40B4-BE49-F238E27FC236}">
                <a16:creationId xmlns:a16="http://schemas.microsoft.com/office/drawing/2014/main" id="{348E26CE-5F53-417B-BBBE-BFC3D428A1E7}"/>
              </a:ext>
            </a:extLst>
          </p:cNvPr>
          <p:cNvSpPr>
            <a:spLocks xmlns:a="http://schemas.openxmlformats.org/drawingml/2006/main" noGrp="1"/>
          </p:cNvSpPr>
          <p:nvPr/>
        </p:nvSpPr>
        <p:spPr>
          <a:xfrm xmlns:a="http://schemas.openxmlformats.org/drawingml/2006/main">
            <a:off x="228600" y="476250"/>
            <a:ext cx="29051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CBD5E1"/>
                </a:solidFill>
                <a:latin typeface="Aptos"/>
                <a:ea typeface="Aptos"/>
                <a:cs typeface="Aptos"/>
              </a:defRPr>
            </a:pPr>
            <a:r>
              <a:rPr sz="750" b="0">
                <a:solidFill>
                  <a:srgbClr val="CBD5E1"/>
                </a:solidFill>
                <a:latin typeface="Aptos"/>
                <a:ea typeface="Aptos"/>
                <a:cs typeface="Aptos"/>
              </a:rPr>
              <a:t>Click to reveal: Streamlit UI, then Flask API JSON</a:t>
            </a:r>
          </a:p>
        </p:txBody>
      </p:sp>
      <p:sp>
        <p:nvSpPr>
          <p:cNvPr id="30" name="">
            <a:extLst xmlns:a="http://schemas.openxmlformats.org/drawingml/2006/main">
              <a:ext uri="{FF2B5EF4-FFF2-40B4-BE49-F238E27FC236}">
                <a16:creationId xmlns:a16="http://schemas.microsoft.com/office/drawing/2014/main" id="{FBA94A6B-07EF-4A22-A763-7F7C17301F23}"/>
              </a:ext>
            </a:extLst>
          </p:cNvPr>
          <p:cNvSpPr>
            <a:spLocks xmlns:a="http://schemas.openxmlformats.org/drawingml/2006/main" noGrp="1"/>
          </p:cNvSpPr>
          <p:nvPr/>
        </p:nvSpPr>
        <p:spPr>
          <a:xfrm xmlns:a="http://schemas.openxmlformats.org/drawingml/2006/main">
            <a:off x="171450" y="742950"/>
            <a:ext cx="3086100" cy="1933575"/>
          </a:xfrm>
          <a:prstGeom xmlns:a="http://schemas.openxmlformats.org/drawingml/2006/main" prst="roundRect">
            <a:avLst>
              <a:gd name="adj" fmla="val 3941"/>
            </a:avLst>
          </a:prstGeom>
          <a:solidFill xmlns:a="http://schemas.openxmlformats.org/drawingml/2006/main">
            <a:srgbClr val="FFFFFF"/>
          </a:solidFill>
          <a:ln xmlns:a="http://schemas.openxmlformats.org/drawingml/2006/main" w="10478">
            <a:solidFill>
              <a:srgbClr val="334155"/>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8d26bba00cd49b4"/>
          <a:stretch xmlns:a="http://schemas.openxmlformats.org/drawingml/2006/main"/>
        </p:blipFill>
        <p:spPr>
          <a:xfrm xmlns:a="http://schemas.openxmlformats.org/drawingml/2006/main">
            <a:off x="213360" y="771525"/>
            <a:ext cx="3002280" cy="1876425"/>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D9CA5973-35EF-477A-B874-95E15A4960BA}"/>
              </a:ext>
            </a:extLst>
          </p:cNvPr>
          <p:cNvSpPr>
            <a:spLocks xmlns:a="http://schemas.openxmlformats.org/drawingml/2006/main" noGrp="1"/>
          </p:cNvSpPr>
          <p:nvPr/>
        </p:nvSpPr>
        <p:spPr>
          <a:xfrm xmlns:a="http://schemas.openxmlformats.org/drawingml/2006/main">
            <a:off x="228600" y="2724150"/>
            <a:ext cx="2952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F9FAFB"/>
                </a:solidFill>
                <a:latin typeface="Aptos"/>
                <a:ea typeface="Aptos"/>
                <a:cs typeface="Aptos"/>
              </a:defRPr>
            </a:pPr>
            <a:r>
              <a:rPr sz="885" b="1">
                <a:solidFill>
                  <a:srgbClr val="F9FAFB"/>
                </a:solidFill>
                <a:latin typeface="Aptos"/>
                <a:ea typeface="Aptos"/>
                <a:cs typeface="Aptos"/>
              </a:rPr>
              <a:t>1  Streamlit dashboard on Cloud Run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25f878b2e0d41a4"/>
          <a:srcRect xmlns:a="http://schemas.openxmlformats.org/drawingml/2006/main" l="0" t="53" r="0" b="53"/>
          <a:stretch xmlns:a="http://schemas.openxmlformats.org/drawingml/2006/main">
            <a:fillRect l="0" t="0" r="0" b="0"/>
          </a:stretch>
        </p:blipFill>
        <p:spPr>
          <a:xfrm xmlns:a="http://schemas.openxmlformats.org/drawingml/2006/main">
            <a:off x="171450" y="3028950"/>
            <a:ext cx="3086100" cy="1781175"/>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AA350EC3-1A6E-4201-851D-CB09C97B3420}"/>
              </a:ext>
            </a:extLst>
          </p:cNvPr>
          <p:cNvSpPr>
            <a:spLocks xmlns:a="http://schemas.openxmlformats.org/drawingml/2006/main" noGrp="1"/>
          </p:cNvSpPr>
          <p:nvPr/>
        </p:nvSpPr>
        <p:spPr>
          <a:xfrm xmlns:a="http://schemas.openxmlformats.org/drawingml/2006/main">
            <a:off x="228600" y="4857750"/>
            <a:ext cx="2952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F9FAFB"/>
                </a:solidFill>
                <a:latin typeface="Aptos"/>
                <a:ea typeface="Aptos"/>
                <a:cs typeface="Aptos"/>
              </a:defRPr>
            </a:pPr>
            <a:r>
              <a:rPr sz="885" b="1">
                <a:solidFill>
                  <a:srgbClr val="F9FAFB"/>
                </a:solidFill>
                <a:latin typeface="Aptos"/>
                <a:ea typeface="Aptos"/>
                <a:cs typeface="Aptos"/>
              </a:rPr>
              <a:t>2  Flask API returns the forecast payload</a:t>
            </a:r>
          </a:p>
        </p:txBody>
      </p:sp>
    </p:spTree>
    <p:extLst>
      <p:ext uri="{BB962C8B-B14F-4D97-AF65-F5344CB8AC3E}">
        <p14:creationId xmlns:p14="http://schemas.microsoft.com/office/powerpoint/2010/main" val="1683843709"/>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animEffect transition="in" filter="fade">
                                <p:cBhvr>
                                  <p:cTn id="5" dur="500"/>
                                  <p:tgtEl>
                                    <p:spTgt spid="31"/>
                                  </p:tgtEl>
                                </p:cBhvr>
                              </p:animEffect>
                            </p:childTnLst>
                          </p:cTn>
                        </p:par>
                      </p:childTnLst>
                    </p:cTn>
                  </p:par>
                  <p:par>
                    <p:cTn id="6" fill="hold">
                      <p:stCondLst>
                        <p:cond delay="indefinite"/>
                      </p:stCondLst>
                      <p:childTnLst>
                        <p:par>
                          <p:cTn id="7" presetID="1" presetClass="entr" presetSubtype="0" fill="hold" nodeType="clickEffect">
                            <p:stCondLst>
                              <p:cond delay="0"/>
                            </p:stCondLst>
                            <p:childTnLst>
                              <p:animEffect transition="in" filter="fade">
                                <p:cBhvr>
                                  <p:cTn id="8" dur="50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14FE4-D8B8-4DAA-9511-C6F74B7BF0BF}"/>
              </a:ext>
            </a:extLst>
          </p:cNvPr>
          <p:cNvSpPr>
            <a:spLocks xmlns:a="http://schemas.openxmlformats.org/drawingml/2006/main" noGrp="1"/>
          </p:cNvSpPr>
          <p:nvPr/>
        </p:nvSpPr>
        <p:spPr>
          <a:xfrm xmlns:a="http://schemas.openxmlformats.org/drawingml/2006/main">
            <a:off x="523577" y="430188"/>
            <a:ext cx="808583" cy="281657"/>
          </a:xfrm>
          <a:prstGeom xmlns:a="http://schemas.openxmlformats.org/drawingml/2006/main" prst="roundRect">
            <a:avLst>
              <a:gd name="adj" fmla="val 60556"/>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3F23EE9-5593-4426-992A-CB8D5DDB2631}"/>
              </a:ext>
            </a:extLst>
          </p:cNvPr>
          <p:cNvSpPr>
            <a:spLocks xmlns:a="http://schemas.openxmlformats.org/drawingml/2006/main" noGrp="1"/>
          </p:cNvSpPr>
          <p:nvPr/>
        </p:nvSpPr>
        <p:spPr>
          <a:xfrm xmlns:a="http://schemas.openxmlformats.org/drawingml/2006/main">
            <a:off x="618381" y="482352"/>
            <a:ext cx="1076176" cy="17732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0000"/>
              </a:lnSpc>
              <a:buNone/>
            </a:pPr>
            <a:r>
              <a:rPr sz="850">
                <a:solidFill>
                  <a:srgbClr val="F2B42D"/>
                </a:solidFill>
                <a:latin typeface="PT Sans"/>
                <a:ea typeface="PT Sans"/>
                <a:cs typeface="PT Sans"/>
              </a:rPr>
              <a:t>REFLECTION</a:t>
            </a:r>
          </a:p>
        </p:txBody>
      </p:sp>
      <p:sp>
        <p:nvSpPr>
          <p:cNvPr id="4" name="Text 2">
            <a:extLst xmlns:a="http://schemas.openxmlformats.org/drawingml/2006/main">
              <a:ext uri="{FF2B5EF4-FFF2-40B4-BE49-F238E27FC236}">
                <a16:creationId xmlns:a16="http://schemas.microsoft.com/office/drawing/2014/main" id="{D5B459C4-FDA4-4D45-9BC5-BC78FA40335A}"/>
              </a:ext>
            </a:extLst>
          </p:cNvPr>
          <p:cNvSpPr>
            <a:spLocks xmlns:a="http://schemas.openxmlformats.org/drawingml/2006/main" noGrp="1"/>
          </p:cNvSpPr>
          <p:nvPr/>
        </p:nvSpPr>
        <p:spPr>
          <a:xfrm xmlns:a="http://schemas.openxmlformats.org/drawingml/2006/main">
            <a:off x="523577" y="765795"/>
            <a:ext cx="8096845" cy="835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2600">
                <a:solidFill>
                  <a:srgbClr val="FFFFFF"/>
                </a:solidFill>
                <a:latin typeface="Nunito SemiBold"/>
                <a:ea typeface="Nunito SemiBold"/>
                <a:cs typeface="Nunito SemiBold"/>
              </a:rPr>
              <a:t>The Main Work Was Turning a Model Into a Reliable Deployed System</a:t>
            </a:r>
          </a:p>
        </p:txBody>
      </p:sp>
      <p:sp>
        <p:nvSpPr>
          <p:cNvPr id="5" name="Text 3">
            <a:extLst xmlns:a="http://schemas.openxmlformats.org/drawingml/2006/main">
              <a:ext uri="{FF2B5EF4-FFF2-40B4-BE49-F238E27FC236}">
                <a16:creationId xmlns:a16="http://schemas.microsoft.com/office/drawing/2014/main" id="{114C6782-130A-43C5-9241-4027CB7D78F6}"/>
              </a:ext>
            </a:extLst>
          </p:cNvPr>
          <p:cNvSpPr>
            <a:spLocks xmlns:a="http://schemas.openxmlformats.org/drawingml/2006/main" noGrp="1"/>
          </p:cNvSpPr>
          <p:nvPr/>
        </p:nvSpPr>
        <p:spPr>
          <a:xfrm xmlns:a="http://schemas.openxmlformats.org/drawingml/2006/main">
            <a:off x="52357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Challenges Solved</a:t>
            </a:r>
          </a:p>
        </p:txBody>
      </p:sp>
      <p:sp>
        <p:nvSpPr>
          <p:cNvPr id="6" name="Text 4">
            <a:extLst xmlns:a="http://schemas.openxmlformats.org/drawingml/2006/main">
              <a:ext uri="{FF2B5EF4-FFF2-40B4-BE49-F238E27FC236}">
                <a16:creationId xmlns:a16="http://schemas.microsoft.com/office/drawing/2014/main" id="{2863C92A-6F01-450F-AA87-BD7A14FA46AF}"/>
              </a:ext>
            </a:extLst>
          </p:cNvPr>
          <p:cNvSpPr>
            <a:spLocks xmlns:a="http://schemas.openxmlformats.org/drawingml/2006/main" noGrp="1"/>
          </p:cNvSpPr>
          <p:nvPr/>
        </p:nvSpPr>
        <p:spPr>
          <a:xfrm xmlns:a="http://schemas.openxmlformats.org/drawingml/2006/main">
            <a:off x="523589"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Cloud Run needed separate API/UI services and correct MODEL_API_URL wiring</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artifact was too large; compact parameter storage fixed deployment</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needed 1 Gi Cloud Run memory to avoid instance termination</a:t>
            </a:r>
          </a:p>
        </p:txBody>
      </p:sp>
      <p:sp>
        <p:nvSpPr>
          <p:cNvPr id="7" name="Text 5">
            <a:extLst xmlns:a="http://schemas.openxmlformats.org/drawingml/2006/main">
              <a:ext uri="{FF2B5EF4-FFF2-40B4-BE49-F238E27FC236}">
                <a16:creationId xmlns:a16="http://schemas.microsoft.com/office/drawing/2014/main" id="{1D2C99FE-599D-4DF1-8F2A-3BD71FA15630}"/>
              </a:ext>
            </a:extLst>
          </p:cNvPr>
          <p:cNvSpPr>
            <a:spLocks xmlns:a="http://schemas.openxmlformats.org/drawingml/2006/main" noGrp="1"/>
          </p:cNvSpPr>
          <p:nvPr/>
        </p:nvSpPr>
        <p:spPr>
          <a:xfrm xmlns:a="http://schemas.openxmlformats.org/drawingml/2006/main">
            <a:off x="475014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AI Assistant Role</a:t>
            </a:r>
          </a:p>
        </p:txBody>
      </p:sp>
      <p:sp>
        <p:nvSpPr>
          <p:cNvPr id="8" name="Text 6">
            <a:extLst xmlns:a="http://schemas.openxmlformats.org/drawingml/2006/main">
              <a:ext uri="{FF2B5EF4-FFF2-40B4-BE49-F238E27FC236}">
                <a16:creationId xmlns:a16="http://schemas.microsoft.com/office/drawing/2014/main" id="{169E207E-B3AD-4A06-AB24-100756BF6F20}"/>
              </a:ext>
            </a:extLst>
          </p:cNvPr>
          <p:cNvSpPr>
            <a:spLocks xmlns:a="http://schemas.openxmlformats.org/drawingml/2006/main" noGrp="1"/>
          </p:cNvSpPr>
          <p:nvPr/>
        </p:nvSpPr>
        <p:spPr>
          <a:xfrm xmlns:a="http://schemas.openxmlformats.org/drawingml/2006/main">
            <a:off x="4750118"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Scaffolded Flask/Streamlit integration and Docker commands</a:t>
            </a:r>
          </a:p>
          <a:p xmlns:a="http://schemas.openxmlformats.org/drawingml/2006/main">
            <a:pPr marL="342900" indent="-342900" algn="l">
              <a:lnSpc>
                <a:spcPct val="130000"/>
              </a:lnSpc>
              <a:buChar char="•"/>
            </a:pPr>
            <a:r>
              <a:rPr sz="1155">
                <a:solidFill>
                  <a:srgbClr val="F9FAFB"/>
                </a:solidFill>
                <a:latin typeface="PT Sans"/>
                <a:ea typeface="PT Sans"/>
                <a:cs typeface="PT Sans"/>
              </a:rPr>
              <a:t>Generated draft code that I checked against course requirements</a:t>
            </a:r>
          </a:p>
          <a:p xmlns:a="http://schemas.openxmlformats.org/drawingml/2006/main">
            <a:pPr marL="342900" indent="-342900" algn="l">
              <a:lnSpc>
                <a:spcPct val="130000"/>
              </a:lnSpc>
              <a:buChar char="•"/>
            </a:pPr>
            <a:r>
              <a:rPr sz="1155">
                <a:solidFill>
                  <a:srgbClr val="F9FAFB"/>
                </a:solidFill>
                <a:latin typeface="PT Sans"/>
                <a:ea typeface="PT Sans"/>
                <a:cs typeface="PT Sans"/>
              </a:rPr>
              <a:t>Lesson: pair AI help with tests, logs, and explicit verification</a:t>
            </a:r>
          </a:p>
        </p:txBody>
      </p:sp>
      <p:sp>
        <p:nvSpPr>
          <p:cNvPr id="9" name="Shape 7">
            <a:extLst xmlns:a="http://schemas.openxmlformats.org/drawingml/2006/main">
              <a:ext uri="{FF2B5EF4-FFF2-40B4-BE49-F238E27FC236}">
                <a16:creationId xmlns:a16="http://schemas.microsoft.com/office/drawing/2014/main" id="{79AD30D4-1106-4D89-867F-775AA682E424}"/>
              </a:ext>
            </a:extLst>
          </p:cNvPr>
          <p:cNvSpPr>
            <a:spLocks xmlns:a="http://schemas.openxmlformats.org/drawingml/2006/main" noGrp="1"/>
          </p:cNvSpPr>
          <p:nvPr/>
        </p:nvSpPr>
        <p:spPr>
          <a:xfrm xmlns:a="http://schemas.openxmlformats.org/drawingml/2006/main">
            <a:off x="523577" y="3906887"/>
            <a:ext cx="8096845" cy="806425"/>
          </a:xfrm>
          <a:prstGeom xmlns:a="http://schemas.openxmlformats.org/drawingml/2006/main" prst="roundRect">
            <a:avLst>
              <a:gd name="adj" fmla="val 26438"/>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b8bef5bebfc64e86"/>
          <a:stretch xmlns:a="http://schemas.openxmlformats.org/drawingml/2006/main">
            <a:fillRect l="0" t="0" r="0" b="0"/>
          </a:stretch>
        </p:blipFill>
        <p:spPr>
          <a:xfrm xmlns:a="http://schemas.openxmlformats.org/drawingml/2006/main">
            <a:off x="665708" y="4122018"/>
            <a:ext cx="177626" cy="142131"/>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31052C33-67E6-4E5A-ACF3-82BAFF299231}"/>
              </a:ext>
            </a:extLst>
          </p:cNvPr>
          <p:cNvSpPr>
            <a:spLocks xmlns:a="http://schemas.openxmlformats.org/drawingml/2006/main" noGrp="1"/>
          </p:cNvSpPr>
          <p:nvPr/>
        </p:nvSpPr>
        <p:spPr>
          <a:xfrm xmlns:a="http://schemas.openxmlformats.org/drawingml/2006/main">
            <a:off x="985456" y="4077367"/>
            <a:ext cx="749284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9900"/>
          </a:bodyPr>
          <a:lstStyle xmlns:a="http://schemas.openxmlformats.org/drawingml/2006/main"/>
          <a:p xmlns:a="http://schemas.openxmlformats.org/drawingml/2006/main">
            <a:pPr marL="0" indent="0" algn="l">
              <a:lnSpc>
                <a:spcPct val="130000"/>
              </a:lnSpc>
              <a:buNone/>
            </a:pPr>
            <a:r>
              <a:rPr sz="1155" b="1">
                <a:solidFill>
                  <a:srgbClr val="F9FAFB"/>
                </a:solidFill>
                <a:latin typeface="PT Sans"/>
                <a:ea typeface="PT Sans"/>
                <a:cs typeface="PT Sans"/>
              </a:rPr>
              <a:t>Future Work: scheduled EIA refresh, confidence intervals, SHAP feature importance, and leaner dependency files for faster rebuilds.</a:t>
            </a:r>
          </a:p>
        </p:txBody>
      </p:sp>
    </p:spTree>
    <p:extLst>
      <p:ext uri="{BB962C8B-B14F-4D97-AF65-F5344CB8AC3E}">
        <p14:creationId xmlns:p14="http://schemas.microsoft.com/office/powerpoint/2010/main" val="29771475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2026-05-31T23:22:29.8410000Z</dcterms:created>
  <dcterms:modified xsi:type="dcterms:W3CDTF">2026-05-31T23:22:29.8410000Z</dcterms:modified>
</coreProperties>
</file>