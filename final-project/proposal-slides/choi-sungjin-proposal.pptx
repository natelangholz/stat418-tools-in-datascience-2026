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A13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PROPOSAL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9525">
            <a:solidFill>
              <a:srgbClr val="E8EB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41832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spc="-15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Soccer Player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spc="-15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 Value Prediction</a:t>
            </a:r>
            <a:pPr indent="0" marL="0">
              <a:lnSpc>
                <a:spcPct val="100000"/>
              </a:lnSpc>
              <a:buNone/>
            </a:pPr>
            <a:r>
              <a:rPr lang="en-US" sz="5000" b="1" spc="-150" kern="0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263347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spc="-20" kern="0" dirty="0">
                <a:solidFill>
                  <a:srgbClr val="4A5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Predicting player market values across the top 5 European leagues from FIFA attributes, performance stats, and league context.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3192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Sungjin Choi</a:t>
            </a:r>
            <a:pPr indent="0" marL="0">
              <a:buNone/>
            </a:pPr>
            <a:r>
              <a:rPr lang="en-US" sz="1050" dirty="0">
                <a:solidFill>
                  <a:srgbClr val="B0B5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·   </a:t>
            </a:r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 418  ·  Final Project Proposal  ·  Spring 2026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730752"/>
            <a:ext cx="1947672" cy="1188720"/>
          </a:xfrm>
          <a:prstGeom prst="roundRect">
            <a:avLst>
              <a:gd name="adj" fmla="val 10000"/>
            </a:avLst>
          </a:prstGeom>
          <a:solidFill>
            <a:srgbClr val="F5F6F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959352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-15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4507992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0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 LEAGUES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23744" y="3730752"/>
            <a:ext cx="1947672" cy="1188720"/>
          </a:xfrm>
          <a:prstGeom prst="roundRect">
            <a:avLst>
              <a:gd name="adj" fmla="val 10000"/>
            </a:avLst>
          </a:prstGeom>
          <a:solidFill>
            <a:srgbClr val="F5F6F7"/>
          </a:solidFill>
          <a:ln/>
        </p:spPr>
      </p:sp>
      <p:sp>
        <p:nvSpPr>
          <p:cNvPr id="12" name="Text 10"/>
          <p:cNvSpPr/>
          <p:nvPr/>
        </p:nvSpPr>
        <p:spPr>
          <a:xfrm>
            <a:off x="2523744" y="3959352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-15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499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523744" y="4507992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0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90288" y="3730752"/>
            <a:ext cx="1947672" cy="1188720"/>
          </a:xfrm>
          <a:prstGeom prst="roundRect">
            <a:avLst>
              <a:gd name="adj" fmla="val 10000"/>
            </a:avLst>
          </a:prstGeom>
          <a:solidFill>
            <a:srgbClr val="F5F6F7"/>
          </a:solidFill>
          <a:ln/>
        </p:spPr>
      </p:sp>
      <p:sp>
        <p:nvSpPr>
          <p:cNvPr id="15" name="Text 13"/>
          <p:cNvSpPr/>
          <p:nvPr/>
        </p:nvSpPr>
        <p:spPr>
          <a:xfrm>
            <a:off x="4590288" y="3959352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-15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90288" y="4507992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0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FEATURES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56832" y="3730752"/>
            <a:ext cx="1947672" cy="1188720"/>
          </a:xfrm>
          <a:prstGeom prst="roundRect">
            <a:avLst>
              <a:gd name="adj" fmla="val 10000"/>
            </a:avLst>
          </a:prstGeom>
          <a:solidFill>
            <a:srgbClr val="F5F6F7"/>
          </a:solidFill>
          <a:ln/>
        </p:spPr>
      </p:sp>
      <p:sp>
        <p:nvSpPr>
          <p:cNvPr id="18" name="Text 16"/>
          <p:cNvSpPr/>
          <p:nvPr/>
        </p:nvSpPr>
        <p:spPr>
          <a:xfrm>
            <a:off x="6656832" y="3959352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-15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€38M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656832" y="4507992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0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AVG. VALUE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0A13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·  OVERVIEW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9525">
            <a:solidFill>
              <a:srgbClr val="E8EB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418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FRAMING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spc="-10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Overview &amp; Motivation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spc="-20" kern="0" dirty="0">
                <a:solidFill>
                  <a:srgbClr val="4A5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scouting tool that takes a player and returns a predicted market value with the features that drove it. Built for fans, analysts, and clubs.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679192"/>
            <a:ext cx="3557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907792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spc="-3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 drives a player's market value?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3227832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4A5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Most clubs use basic stats. Real value comes from age, position, league, and performance together.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2514600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2679192"/>
            <a:ext cx="3557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73752" y="2907792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spc="-3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€38M average across the top five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73752" y="3227832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4A5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median is €50M. That is twice the €20-25M of the other four leagues.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959352"/>
            <a:ext cx="3557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" y="4187952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spc="-3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Predict value, find market gaps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" y="4507992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4A5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Predict log market value. Use SHAP to show why. Flag players the market values wrong.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794760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3959352"/>
            <a:ext cx="3557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REAL-WORLD USE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73752" y="4187952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spc="-3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scouting tool you can actually use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73752" y="4507992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spc="-10" kern="0" dirty="0">
                <a:solidFill>
                  <a:srgbClr val="4A5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Pick a player. The app shows a predicted value, the top features, and similar players.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0A13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·  DATA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9525">
            <a:solidFill>
              <a:srgbClr val="E8EB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418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spc="-10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Three sources, 499 unique players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spc="-20" kern="0" dirty="0">
                <a:solidFill>
                  <a:srgbClr val="4A5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Scraped market values, squad lists, and FIFA attributes for the top 100 players in each league.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267919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706624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 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2926080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Transfermarkt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" y="3236976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-20" kern="0" dirty="0">
                <a:solidFill>
                  <a:srgbClr val="6B74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 values &amp; squad lists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3493008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spc="-10" kern="0" dirty="0">
                <a:solidFill>
                  <a:srgbClr val="4A5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 100 per league with EUR/USD value at scrape time.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55264" y="2560320"/>
            <a:ext cx="267919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2706624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56432" y="2926080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Sofifa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56432" y="3236976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-20" kern="0" dirty="0">
                <a:solidFill>
                  <a:srgbClr val="6B74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FIFA player attributes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56432" y="3493008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spc="-10" kern="0" dirty="0">
                <a:solidFill>
                  <a:srgbClr val="4A5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attributes per player. Reactions, Composure, Vision, and more.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53328" y="2560320"/>
            <a:ext cx="267919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4496" y="2706624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54496" y="2926080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stack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254496" y="3236976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-20" kern="0" dirty="0">
                <a:solidFill>
                  <a:srgbClr val="6B74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Scrape, parse, join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4496" y="3493008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spc="-10" kern="0" dirty="0">
                <a:solidFill>
                  <a:srgbClr val="4A5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requests, BeautifulSoup, lxml. Rate-limited at 2 to 3 seconds per request.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1947672" cy="804672"/>
          </a:xfrm>
          <a:prstGeom prst="roundRect">
            <a:avLst>
              <a:gd name="adj" fmla="val 11364"/>
            </a:avLst>
          </a:prstGeom>
          <a:solidFill>
            <a:srgbClr val="F5F6F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233672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-10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499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8A90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UNIQUE PLAYERS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23744" y="4114800"/>
            <a:ext cx="1947672" cy="804672"/>
          </a:xfrm>
          <a:prstGeom prst="roundRect">
            <a:avLst>
              <a:gd name="adj" fmla="val 11364"/>
            </a:avLst>
          </a:prstGeom>
          <a:solidFill>
            <a:srgbClr val="F5F6F7"/>
          </a:solidFill>
          <a:ln/>
        </p:spPr>
      </p:sp>
      <p:sp>
        <p:nvSpPr>
          <p:cNvPr id="27" name="Text 25"/>
          <p:cNvSpPr/>
          <p:nvPr/>
        </p:nvSpPr>
        <p:spPr>
          <a:xfrm>
            <a:off x="2523744" y="4233672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-10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523744" y="4617720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8A90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FULL SOFIFA MATCH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90288" y="4114800"/>
            <a:ext cx="1947672" cy="804672"/>
          </a:xfrm>
          <a:prstGeom prst="roundRect">
            <a:avLst>
              <a:gd name="adj" fmla="val 11364"/>
            </a:avLst>
          </a:prstGeom>
          <a:solidFill>
            <a:srgbClr val="F5F6F7"/>
          </a:solidFill>
          <a:ln/>
        </p:spPr>
      </p:sp>
      <p:sp>
        <p:nvSpPr>
          <p:cNvPr id="30" name="Text 28"/>
          <p:cNvSpPr/>
          <p:nvPr/>
        </p:nvSpPr>
        <p:spPr>
          <a:xfrm>
            <a:off x="4590288" y="4233672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-10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590288" y="4617720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8A90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LEAGUES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56832" y="4114800"/>
            <a:ext cx="1947672" cy="804672"/>
          </a:xfrm>
          <a:prstGeom prst="roundRect">
            <a:avLst>
              <a:gd name="adj" fmla="val 11364"/>
            </a:avLst>
          </a:prstGeom>
          <a:solidFill>
            <a:srgbClr val="F5F6F7"/>
          </a:solidFill>
          <a:ln/>
        </p:spPr>
      </p:sp>
      <p:sp>
        <p:nvSpPr>
          <p:cNvPr id="33" name="Text 31"/>
          <p:cNvSpPr/>
          <p:nvPr/>
        </p:nvSpPr>
        <p:spPr>
          <a:xfrm>
            <a:off x="6656832" y="4233672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-10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2-3s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656832" y="4617720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8A90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RATE LIMIT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A13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·  EDA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9525">
            <a:solidFill>
              <a:srgbClr val="E8EB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418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EDA HIGHLIGHTS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spc="-10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 the data already tells us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spc="-20" kern="0" dirty="0">
                <a:solidFill>
                  <a:srgbClr val="4A5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Four findings that shape the model: skewed target, EPL premium, age curve, and which FIFA attributes matter.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24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DISTRIBUTION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51760" y="26243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Right-skewed → log target</a:t>
            </a:r>
            <a:endParaRPr lang="en-US" sz="900" dirty="0"/>
          </a:p>
        </p:txBody>
      </p:sp>
      <p:pic>
        <p:nvPicPr>
          <p:cNvPr id="11" name="Image 0" descr="/home/claude/charts/01_value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843784"/>
            <a:ext cx="3657600" cy="7315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63440" y="251460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2624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LEAGUE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0" y="26243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≈ 2× the other four</a:t>
            </a:r>
            <a:endParaRPr lang="en-US" sz="900" dirty="0"/>
          </a:p>
        </p:txBody>
      </p:sp>
      <p:pic>
        <p:nvPicPr>
          <p:cNvPr id="15" name="Image 1" descr="/home/claude/charts/02_by_leagu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2843784"/>
            <a:ext cx="3657600" cy="7315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57200" y="37490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38587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 CURVE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651760" y="38587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Peaks at 27, sharp drop after</a:t>
            </a:r>
            <a:endParaRPr lang="en-US" sz="900" dirty="0"/>
          </a:p>
        </p:txBody>
      </p:sp>
      <p:pic>
        <p:nvPicPr>
          <p:cNvPr id="19" name="Image 2" descr="/home/claude/charts/04_age_curv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" y="4078224"/>
            <a:ext cx="3657600" cy="73152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663440" y="37490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0" y="38587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 FIFA FEATURES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858000" y="38587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Reactions leads at r = 0.54</a:t>
            </a:r>
            <a:endParaRPr lang="en-US" sz="900" dirty="0"/>
          </a:p>
        </p:txBody>
      </p:sp>
      <p:pic>
        <p:nvPicPr>
          <p:cNvPr id="23" name="Image 3" descr="/home/claude/charts/07_top_features_scatte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46320" y="4078224"/>
            <a:ext cx="365760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0A13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·  MODELING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9525">
            <a:solidFill>
              <a:srgbClr val="E8EB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418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MODELING APPROACH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spc="-10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the model, attribute the predictions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spc="-20" kern="0" dirty="0">
                <a:solidFill>
                  <a:srgbClr val="4A5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Log target with engineered features. Three model families. SHAP attributions on top.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40690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688336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2889504"/>
            <a:ext cx="3666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log(market_value)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" y="3163824"/>
            <a:ext cx="3666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-10" kern="0" dirty="0">
                <a:solidFill>
                  <a:srgbClr val="4A5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Stabilizes the long right tail.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40690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2688336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FEATURES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18888" y="2926080"/>
            <a:ext cx="3666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spc="-2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 + age² · position × stats · league dummies · 28 FIFA attrs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2663952" cy="713232"/>
          </a:xfrm>
          <a:prstGeom prst="roundRect">
            <a:avLst>
              <a:gd name="adj" fmla="val 12821"/>
            </a:avLst>
          </a:prstGeom>
          <a:solidFill>
            <a:srgbClr val="F5F6F7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39312"/>
            <a:ext cx="384048" cy="38404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43000" y="3621024"/>
            <a:ext cx="1795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43000" y="3858768"/>
            <a:ext cx="1795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-10" kern="0" dirty="0">
                <a:solidFill>
                  <a:srgbClr val="6B74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ElasticNet · RandomForest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40024" y="3474720"/>
            <a:ext cx="2663952" cy="713232"/>
          </a:xfrm>
          <a:prstGeom prst="roundRect">
            <a:avLst>
              <a:gd name="adj" fmla="val 12821"/>
            </a:avLst>
          </a:prstGeom>
          <a:solidFill>
            <a:srgbClr val="F5F6F7"/>
          </a:solidFill>
          <a:ln/>
        </p:spPr>
      </p:sp>
      <p:sp>
        <p:nvSpPr>
          <p:cNvPr id="20" name="Shape 17"/>
          <p:cNvSpPr/>
          <p:nvPr/>
        </p:nvSpPr>
        <p:spPr>
          <a:xfrm>
            <a:off x="3422904" y="3639312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0064E0"/>
          </a:solidFill>
          <a:ln/>
        </p:spPr>
      </p:sp>
      <p:sp>
        <p:nvSpPr>
          <p:cNvPr id="21" name="Text 18"/>
          <p:cNvSpPr/>
          <p:nvPr/>
        </p:nvSpPr>
        <p:spPr>
          <a:xfrm>
            <a:off x="3422904" y="36393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28744" y="3621024"/>
            <a:ext cx="1292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428744" y="3858768"/>
            <a:ext cx="129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-10" kern="0" dirty="0">
                <a:solidFill>
                  <a:srgbClr val="6B74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Gradient boosting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022848" y="3474720"/>
            <a:ext cx="2663952" cy="713232"/>
          </a:xfrm>
          <a:prstGeom prst="roundRect">
            <a:avLst>
              <a:gd name="adj" fmla="val 12821"/>
            </a:avLst>
          </a:prstGeom>
          <a:solidFill>
            <a:srgbClr val="F5F6F7"/>
          </a:solidFill>
          <a:ln/>
        </p:spPr>
      </p:sp>
      <p:sp>
        <p:nvSpPr>
          <p:cNvPr id="25" name="Shape 22"/>
          <p:cNvSpPr/>
          <p:nvPr/>
        </p:nvSpPr>
        <p:spPr>
          <a:xfrm>
            <a:off x="6205728" y="3639312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0064E0"/>
          </a:solidFill>
          <a:ln/>
        </p:spPr>
      </p:sp>
      <p:sp>
        <p:nvSpPr>
          <p:cNvPr id="26" name="Text 23"/>
          <p:cNvSpPr/>
          <p:nvPr/>
        </p:nvSpPr>
        <p:spPr>
          <a:xfrm>
            <a:off x="6205728" y="36393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SHAP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211568" y="3621024"/>
            <a:ext cx="1292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SHAP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211568" y="3858768"/>
            <a:ext cx="129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-10" kern="0" dirty="0">
                <a:solidFill>
                  <a:srgbClr val="6B74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Per-prediction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57200" y="4297680"/>
            <a:ext cx="4069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" y="441655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EVAL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58368" y="4626864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-2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RMSE · R²  ·  5-fold CV  ·  SHAP per prediction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617720" y="4297680"/>
            <a:ext cx="4069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18888" y="441655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FUTURE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818888" y="4626864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-2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R1 cross-sectional  →  R2 year-over-year change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0A13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·  APPLICATION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9525">
            <a:solidFill>
              <a:srgbClr val="E8EB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418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APPLICATION DESIGN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spc="-10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web app and an API on Cloud Run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spc="-20" kern="0" dirty="0">
                <a:solidFill>
                  <a:srgbClr val="4A5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for the user-facing scouting tool. Flask for a lean prediction API. Both deployed on Cloud Run.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42032"/>
            <a:ext cx="8229600" cy="1627632"/>
          </a:xfrm>
          <a:prstGeom prst="roundRect">
            <a:avLst>
              <a:gd name="adj" fmla="val 5618"/>
            </a:avLst>
          </a:prstGeom>
          <a:solidFill>
            <a:srgbClr val="F5F6F7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42032"/>
            <a:ext cx="82296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2633472"/>
            <a:ext cx="73152" cy="7315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633472"/>
            <a:ext cx="73152" cy="7315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" y="2633472"/>
            <a:ext cx="73152" cy="7315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42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market-value-app  ·  predict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798064"/>
            <a:ext cx="8229600" cy="0"/>
          </a:xfrm>
          <a:prstGeom prst="line">
            <a:avLst/>
          </a:prstGeom>
          <a:noFill/>
          <a:ln w="9525">
            <a:solidFill>
              <a:srgbClr val="E8EB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90779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" y="3136392"/>
            <a:ext cx="20574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5D9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13639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Vinícius Jr.  ▾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" y="358444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LEAGUE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1792" y="3813048"/>
            <a:ext cx="20574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5D9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8130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LaLiga  ▾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0" y="2907792"/>
            <a:ext cx="0" cy="1170432"/>
          </a:xfrm>
          <a:prstGeom prst="line">
            <a:avLst/>
          </a:prstGeom>
          <a:noFill/>
          <a:ln w="9525">
            <a:solidFill>
              <a:srgbClr val="E8EB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29077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PREDICTED VALUE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063240" y="309067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spc="-150" kern="0" dirty="0">
                <a:solidFill>
                  <a:srgbClr val="6B74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€</a:t>
            </a:r>
            <a:pPr algn="ctr" indent="0" marL="0">
              <a:buNone/>
            </a:pPr>
            <a:r>
              <a:rPr lang="en-US" sz="3600" b="1" spc="-15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</a:t>
            </a:r>
            <a:pPr algn="ctr" indent="0" marL="0">
              <a:buNone/>
            </a:pPr>
            <a:r>
              <a:rPr lang="en-US" sz="2200" spc="-150" kern="0" dirty="0">
                <a:solidFill>
                  <a:srgbClr val="6B74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3200400" y="3749040"/>
            <a:ext cx="2651760" cy="91440"/>
          </a:xfrm>
          <a:prstGeom prst="roundRect">
            <a:avLst>
              <a:gd name="adj" fmla="val 50000"/>
            </a:avLst>
          </a:prstGeom>
          <a:solidFill>
            <a:srgbClr val="F0F2F4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3749040"/>
            <a:ext cx="2068373" cy="91440"/>
          </a:xfrm>
          <a:prstGeom prst="roundRect">
            <a:avLst>
              <a:gd name="adj" fmla="val 50000"/>
            </a:avLst>
          </a:prstGeom>
          <a:solidFill>
            <a:srgbClr val="0064E0"/>
          </a:solidFill>
          <a:ln/>
        </p:spPr>
      </p:sp>
      <p:sp>
        <p:nvSpPr>
          <p:cNvPr id="26" name="Text 24"/>
          <p:cNvSpPr/>
          <p:nvPr/>
        </p:nvSpPr>
        <p:spPr>
          <a:xfrm>
            <a:off x="3063240" y="38770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 €38M league average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08192" y="2907792"/>
            <a:ext cx="0" cy="1170432"/>
          </a:xfrm>
          <a:prstGeom prst="line">
            <a:avLst/>
          </a:prstGeom>
          <a:noFill/>
          <a:ln w="9525">
            <a:solidFill>
              <a:srgbClr val="E8EB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29077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 DRIVERS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36208" y="313639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Reactions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287768" y="3172968"/>
            <a:ext cx="1129284" cy="91440"/>
          </a:xfrm>
          <a:prstGeom prst="rect">
            <a:avLst/>
          </a:prstGeom>
          <a:solidFill>
            <a:srgbClr val="0064E0"/>
          </a:solidFill>
          <a:ln/>
        </p:spPr>
      </p:sp>
      <p:sp>
        <p:nvSpPr>
          <p:cNvPr id="31" name="Text 29"/>
          <p:cNvSpPr/>
          <p:nvPr/>
        </p:nvSpPr>
        <p:spPr>
          <a:xfrm>
            <a:off x="6236208" y="33192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 (24)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87768" y="3355848"/>
            <a:ext cx="927202" cy="91440"/>
          </a:xfrm>
          <a:prstGeom prst="rect">
            <a:avLst/>
          </a:prstGeom>
          <a:solidFill>
            <a:srgbClr val="0064E0"/>
          </a:solidFill>
          <a:ln/>
        </p:spPr>
      </p:sp>
      <p:sp>
        <p:nvSpPr>
          <p:cNvPr id="33" name="Text 31"/>
          <p:cNvSpPr/>
          <p:nvPr/>
        </p:nvSpPr>
        <p:spPr>
          <a:xfrm>
            <a:off x="6236208" y="35021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EPL/LaLiga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287768" y="3538728"/>
            <a:ext cx="784555" cy="91440"/>
          </a:xfrm>
          <a:prstGeom prst="rect">
            <a:avLst/>
          </a:prstGeom>
          <a:solidFill>
            <a:srgbClr val="0064E0"/>
          </a:solidFill>
          <a:ln/>
        </p:spPr>
      </p:sp>
      <p:sp>
        <p:nvSpPr>
          <p:cNvPr id="35" name="Text 33"/>
          <p:cNvSpPr/>
          <p:nvPr/>
        </p:nvSpPr>
        <p:spPr>
          <a:xfrm>
            <a:off x="6236208" y="36850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Composure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287768" y="3721608"/>
            <a:ext cx="594360" cy="91440"/>
          </a:xfrm>
          <a:prstGeom prst="rect">
            <a:avLst/>
          </a:prstGeom>
          <a:solidFill>
            <a:srgbClr val="0064E0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334256"/>
            <a:ext cx="274320" cy="27432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841248" y="43525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20" kern="0" dirty="0">
                <a:solidFill>
                  <a:srgbClr val="4A5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web app  ·  the scouting interface above</a:t>
            </a:r>
            <a:endParaRPr lang="en-US" sz="1100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334256"/>
            <a:ext cx="274320" cy="27432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5230368" y="4352544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20" kern="0" dirty="0">
                <a:solidFill>
                  <a:srgbClr val="4A5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Flask API  ·  POST /predict returns value + drivers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0A13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·  DELIVERY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9525">
            <a:solidFill>
              <a:srgbClr val="E8EB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418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 &amp; TIMELINE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spc="-10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 and six-week schedule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spc="-20" kern="0" dirty="0">
                <a:solidFill>
                  <a:srgbClr val="4A5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 raw scrape to deployed app. Six weeks from baseline to final report.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42032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5F6F7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660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95351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17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-10" kern="0" dirty="0">
                <a:solidFill>
                  <a:srgbClr val="6B74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Transfermarkt · Sofifa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 rot="5400000">
            <a:off x="2137410" y="3150108"/>
            <a:ext cx="91440" cy="109728"/>
          </a:xfrm>
          <a:prstGeom prst="rtTriangle">
            <a:avLst/>
          </a:prstGeom>
          <a:solidFill>
            <a:srgbClr val="8A9099"/>
          </a:solidFill>
          <a:ln/>
        </p:spPr>
      </p:sp>
      <p:sp>
        <p:nvSpPr>
          <p:cNvPr id="14" name="Shape 12"/>
          <p:cNvSpPr/>
          <p:nvPr/>
        </p:nvSpPr>
        <p:spPr>
          <a:xfrm>
            <a:off x="2263140" y="295351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63140" y="3017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SCRAPERS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263140" y="32004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-10" kern="0" dirty="0">
                <a:solidFill>
                  <a:srgbClr val="6B74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· BeautifulSoup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 rot="5400000">
            <a:off x="3760470" y="3150108"/>
            <a:ext cx="91440" cy="109728"/>
          </a:xfrm>
          <a:prstGeom prst="rtTriangle">
            <a:avLst/>
          </a:prstGeom>
          <a:solidFill>
            <a:srgbClr val="8A9099"/>
          </a:solidFill>
          <a:ln/>
        </p:spPr>
      </p:sp>
      <p:sp>
        <p:nvSpPr>
          <p:cNvPr id="18" name="Shape 16"/>
          <p:cNvSpPr/>
          <p:nvPr/>
        </p:nvSpPr>
        <p:spPr>
          <a:xfrm>
            <a:off x="3886200" y="295351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3017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PIPELINE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86200" y="32004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-10" kern="0" dirty="0">
                <a:solidFill>
                  <a:srgbClr val="6B74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· join · CSV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 rot="5400000">
            <a:off x="5383530" y="3150108"/>
            <a:ext cx="91440" cy="109728"/>
          </a:xfrm>
          <a:prstGeom prst="rtTriangle">
            <a:avLst/>
          </a:prstGeom>
          <a:solidFill>
            <a:srgbClr val="8A9099"/>
          </a:solidFill>
          <a:ln/>
        </p:spPr>
      </p:sp>
      <p:sp>
        <p:nvSpPr>
          <p:cNvPr id="22" name="Shape 20"/>
          <p:cNvSpPr/>
          <p:nvPr/>
        </p:nvSpPr>
        <p:spPr>
          <a:xfrm>
            <a:off x="5509260" y="295351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9260" y="3017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ML TRAINING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509260" y="32004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-10" kern="0" dirty="0">
                <a:solidFill>
                  <a:srgbClr val="6B74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scikit-learn · XGBoost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rot="5400000">
            <a:off x="7006590" y="3150108"/>
            <a:ext cx="91440" cy="109728"/>
          </a:xfrm>
          <a:prstGeom prst="rtTriangle">
            <a:avLst/>
          </a:prstGeom>
          <a:solidFill>
            <a:srgbClr val="8A9099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2320" y="295351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3017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DEPLOY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32320" y="32004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-10" kern="0" dirty="0">
                <a:solidFill>
                  <a:srgbClr val="6B74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Flask + Streamlit · Cloud Run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7200" y="3822192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B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9410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TIMELINE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4233672"/>
            <a:ext cx="1234440" cy="36576"/>
          </a:xfrm>
          <a:prstGeom prst="rect">
            <a:avLst/>
          </a:prstGeom>
          <a:solidFill>
            <a:srgbClr val="0064E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3251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WK 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45262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spc="-1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Feature eng.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50" spc="-1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baseline ElasticNet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965960" y="4233672"/>
            <a:ext cx="1234440" cy="36576"/>
          </a:xfrm>
          <a:prstGeom prst="rect">
            <a:avLst/>
          </a:prstGeom>
          <a:solidFill>
            <a:srgbClr val="0064E0"/>
          </a:solidFill>
          <a:ln/>
        </p:spPr>
      </p:sp>
      <p:sp>
        <p:nvSpPr>
          <p:cNvPr id="35" name="Text 33"/>
          <p:cNvSpPr/>
          <p:nvPr/>
        </p:nvSpPr>
        <p:spPr>
          <a:xfrm>
            <a:off x="1965960" y="43251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WK 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965960" y="45262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spc="-1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Hyperparam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50" spc="-1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SHAP attribution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91840" y="4233672"/>
            <a:ext cx="1234440" cy="36576"/>
          </a:xfrm>
          <a:prstGeom prst="rect">
            <a:avLst/>
          </a:prstGeom>
          <a:solidFill>
            <a:srgbClr val="0064E0"/>
          </a:solidFill>
          <a:ln/>
        </p:spPr>
      </p:sp>
      <p:sp>
        <p:nvSpPr>
          <p:cNvPr id="38" name="Text 36"/>
          <p:cNvSpPr/>
          <p:nvPr/>
        </p:nvSpPr>
        <p:spPr>
          <a:xfrm>
            <a:off x="3291840" y="43251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WK 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91840" y="45262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spc="-1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Flask API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50" spc="-1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local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17720" y="4233672"/>
            <a:ext cx="1234440" cy="36576"/>
          </a:xfrm>
          <a:prstGeom prst="rect">
            <a:avLst/>
          </a:prstGeom>
          <a:solidFill>
            <a:srgbClr val="0064E0"/>
          </a:solidFill>
          <a:ln/>
        </p:spPr>
      </p:sp>
      <p:sp>
        <p:nvSpPr>
          <p:cNvPr id="41" name="Text 39"/>
          <p:cNvSpPr/>
          <p:nvPr/>
        </p:nvSpPr>
        <p:spPr>
          <a:xfrm>
            <a:off x="4617720" y="43251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WK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17720" y="45262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spc="-1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Dockerize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50" spc="-1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Deploy Cloud Run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943600" y="4233672"/>
            <a:ext cx="1234440" cy="36576"/>
          </a:xfrm>
          <a:prstGeom prst="rect">
            <a:avLst/>
          </a:prstGeom>
          <a:solidFill>
            <a:srgbClr val="0064E0"/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0" y="43251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WK 9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43600" y="45262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spc="-1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R2 historical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50" spc="-1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scraping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269480" y="4233672"/>
            <a:ext cx="1234440" cy="36576"/>
          </a:xfrm>
          <a:prstGeom prst="rect">
            <a:avLst/>
          </a:prstGeom>
          <a:solidFill>
            <a:srgbClr val="0064E0"/>
          </a:solidFill>
          <a:ln/>
        </p:spPr>
      </p:sp>
      <p:sp>
        <p:nvSpPr>
          <p:cNvPr id="47" name="Text 45"/>
          <p:cNvSpPr/>
          <p:nvPr/>
        </p:nvSpPr>
        <p:spPr>
          <a:xfrm>
            <a:off x="7269480" y="43251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64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WK 10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69480" y="45262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spc="-1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report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50" spc="-10" kern="0" dirty="0">
                <a:solidFill>
                  <a:srgbClr val="0A13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presentation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Soccer Player Market Value Prediction</dc:title>
  <dc:subject>PptxGenJS Presentation</dc:subject>
  <dc:creator>Sungjin Choi</dc:creator>
  <cp:lastModifiedBy>Sungjin Choi</cp:lastModifiedBy>
  <cp:revision>1</cp:revision>
  <dcterms:created xsi:type="dcterms:W3CDTF">2026-05-05T08:53:18Z</dcterms:created>
  <dcterms:modified xsi:type="dcterms:W3CDTF">2026-05-05T08:53:18Z</dcterms:modified>
</cp:coreProperties>
</file>