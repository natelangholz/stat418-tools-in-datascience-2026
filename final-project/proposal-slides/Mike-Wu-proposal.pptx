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309360" y="457200"/>
            <a:ext cx="2560320" cy="2560320"/>
          </a:xfrm>
          <a:prstGeom prst="ellipse">
            <a:avLst/>
          </a:prstGeom>
          <a:solidFill>
            <a:srgbClr val="132B4E"/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82296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48640" y="502920"/>
            <a:ext cx="5577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Forecasting U.S. Retail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188720"/>
            <a:ext cx="5577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29B6F6"/>
                </a:solidFill>
                <a:latin typeface="Trebuchet MS"/>
                <a:ea typeface="Trebuchet MS"/>
                <a:cs typeface="Trebuchet MS"/>
                <a:sym typeface="Trebuchet MS"/>
              </a:rPr>
              <a:t>Fuel Prices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084832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Interactive Web App &amp; Deployed Model 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54203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National and regional gasoline price modeling using public energy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017520"/>
            <a:ext cx="2286000" cy="36576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48640" y="32004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Mike Wu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354787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STAT 418 — Tools in Data Science  ·  May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" y="4160520"/>
            <a:ext cx="2560320" cy="713232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42702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1033272" y="427024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EIA Open Data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337560" y="4160520"/>
            <a:ext cx="2560320" cy="713232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7288" y="42702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3867912" y="427024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Flask + Docker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172200" y="4160520"/>
            <a:ext cx="2560320" cy="713232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1928" y="42702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6702552" y="4270248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Cloud Run Deploy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" y="0"/>
            <a:ext cx="8823960" cy="749808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3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1005840" y="109728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Overview &amp; Motivation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" y="914400"/>
            <a:ext cx="2651760" cy="3913632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02920" y="914400"/>
            <a:ext cx="265176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0789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1161288" y="10789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" y="1664208"/>
            <a:ext cx="2395728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Consumers, small businesses &amp;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logistics planners want to know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where fuel prices are heading.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Raw government data is scattered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across sources, hard to interpret.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383280" y="914400"/>
            <a:ext cx="2651760" cy="3913632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383280" y="914400"/>
            <a:ext cx="2651760" cy="73152"/>
          </a:xfrm>
          <a:prstGeom prst="rect">
            <a:avLst/>
          </a:prstGeom>
          <a:solidFill>
            <a:srgbClr val="29B6F6"/>
          </a:solidFill>
          <a:ln cap="flat" cmpd="sng" w="12700">
            <a:solidFill>
              <a:srgbClr val="29B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0440" y="10789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4041648" y="10789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9B6F6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520440" y="1664208"/>
            <a:ext cx="2395728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Historical EIA dataset (CSV/Parquet)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Trained forecasting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with engineered lag features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Streamlit app + Flask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Fully Dockerized + deployed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on Cloud 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263640" y="914400"/>
            <a:ext cx="2651760" cy="3913632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263640" y="914400"/>
            <a:ext cx="2651760" cy="73152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10789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6922008" y="107899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400800" y="1664208"/>
            <a:ext cx="2395728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Fuel costs drive inflation,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transportation &amp; household budgets.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Reproducible API → Model →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Deployed UI pipeline is 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portfolio-ready ML application.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4630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914400" y="109728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Collection Approach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7200" y="932688"/>
            <a:ext cx="3931920" cy="3913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" y="932688"/>
            <a:ext cx="3931920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10789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1097280" y="107899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Primary Source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94360" y="1609344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U.S. Energy Information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Administration (EIA)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4360" y="2249424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Weekly / monthly U.S. retail gas &amp; diesel prices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National, PADD, or state-level series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Free API key → JSON → pandas → CSV / Parquet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Official, stable schema — satisfies course API requirement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4360" y="437083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🔗  eia.gov/opendata  ·  fred.stlouisfed.org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663440" y="932688"/>
            <a:ext cx="4023360" cy="17922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663440" y="932688"/>
            <a:ext cx="402336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10789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5266944" y="107899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Optional Enrichment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800600" y="1572768"/>
            <a:ext cx="3767328" cy="1060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FRED API: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WTI / Brent crude oil, macro features</a:t>
            </a:r>
            <a:b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Static tables:</a:t>
            </a: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Holiday calendars, region labels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663440" y="2871216"/>
            <a:ext cx="4023360" cy="19751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663440" y="2871216"/>
            <a:ext cx="402336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29992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5266944" y="29992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Progress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800600" y="3511296"/>
            <a:ext cx="37673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EIA API key obtained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Pilot script pulls gasoline series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 column standardized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Raw pulls saved to data/raw/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320040" y="0"/>
            <a:ext cx="8823960" cy="749808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3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1005840" y="109728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Exploratory Data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868680"/>
            <a:ext cx="530352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457200" y="422452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U.S. Average Retail Gas Price Over Time ($/gal)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989320" y="914400"/>
            <a:ext cx="2834640" cy="1188720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989320" y="914400"/>
            <a:ext cx="64008" cy="1188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0" y="10241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6565392" y="100584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126480" y="1426464"/>
            <a:ext cx="25786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Summer driving &amp; reformulation seasons drive price spikes month-over-month, visible in week-of-year boxplots.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989320" y="2286000"/>
            <a:ext cx="2834640" cy="1188720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89320" y="2286000"/>
            <a:ext cx="64008" cy="1188720"/>
          </a:xfrm>
          <a:prstGeom prst="rect">
            <a:avLst/>
          </a:prstGeom>
          <a:solidFill>
            <a:srgbClr val="29B6F6"/>
          </a:solidFill>
          <a:ln cap="flat" cmpd="sng" w="12700">
            <a:solidFill>
              <a:srgbClr val="29B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23957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6565392" y="237744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9B6F6"/>
                </a:solidFill>
                <a:latin typeface="Trebuchet MS"/>
                <a:ea typeface="Trebuchet MS"/>
                <a:cs typeface="Trebuchet MS"/>
                <a:sym typeface="Trebuchet MS"/>
              </a:rPr>
              <a:t>Autocorrelation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126480" y="2798064"/>
            <a:ext cx="25786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Strong lag-1 autocorrelation — yesterday's price is the best single predictor of today's price.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989320" y="3657600"/>
            <a:ext cx="2834640" cy="1188720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989320" y="3657600"/>
            <a:ext cx="64008" cy="1188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6480" y="37673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6565392" y="374904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Regime Shifts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126480" y="4169664"/>
            <a:ext cx="257860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Structural breaks around supply shocks (2005, 2008, 2022). Rolling std reveals volatility clusters.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989320" y="4626864"/>
            <a:ext cx="2834640" cy="384048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080760" y="4654296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⚙  Time-based train/test split · forward-fill NaNs · resample weekly→monthly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4630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914400" y="109728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Modeling Approach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" y="932688"/>
            <a:ext cx="832104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932688"/>
            <a:ext cx="64008" cy="6583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40080" y="10058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Predict next-week / next-month average retail price per gallon ($/gal) or week-over-week Δ price.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7200" y="1737360"/>
            <a:ext cx="2651760" cy="31455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57200" y="1737360"/>
            <a:ext cx="2651760" cy="6400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566928" y="18288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rPr>
              <a:t>01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66928" y="217627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Naive / SARIMA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66928" y="2688336"/>
            <a:ext cx="2423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Seasonal naive as floor benchmark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ARIMA / SARIMA on national series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ACF / PACF for lag selection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Low complexity, easy to interpret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291840" y="1737360"/>
            <a:ext cx="2651760" cy="31455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291840" y="1737360"/>
            <a:ext cx="2651760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3401568" y="18288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02 Machine Learning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401568" y="217627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Random Forest / XGBoost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401568" y="2688336"/>
            <a:ext cx="2423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Lags (1,2,4,8,52 weeks)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Calendar features (month, week-of-year)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Optional WTI crude lags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SHAP for feature importance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126480" y="1737360"/>
            <a:ext cx="2651760" cy="31455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126480" y="1737360"/>
            <a:ext cx="265176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236208" y="18288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03 Optional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236208" y="217627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A2342"/>
                </a:solidFill>
                <a:latin typeface="Trebuchet MS"/>
                <a:ea typeface="Trebuchet MS"/>
                <a:cs typeface="Trebuchet MS"/>
                <a:sym typeface="Trebuchet MS"/>
              </a:rPr>
              <a:t>Prophet / Expanding CV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236208" y="2688336"/>
            <a:ext cx="2423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Prophet for trend + seasonality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Sklearn pipeline + time-based CV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Expanding validation window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Multi-series / regional extension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4919472"/>
            <a:ext cx="8321040" cy="1371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48640" y="47731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▪ MAE($/gal)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606040" y="47731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▪ RMSE ($/gal)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663440" y="47731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▪ MAPE (%)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720840" y="47731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▪ Held-out time window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4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20040" y="0"/>
            <a:ext cx="8823960" cy="749808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3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1005840" y="109728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Application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914400"/>
            <a:ext cx="2743200" cy="3931920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57200" y="914400"/>
            <a:ext cx="2743200" cy="64008"/>
          </a:xfrm>
          <a:prstGeom prst="rect">
            <a:avLst/>
          </a:prstGeom>
          <a:solidFill>
            <a:srgbClr val="29B6F6"/>
          </a:solidFill>
          <a:ln cap="flat" cmpd="sng" w="12700">
            <a:solidFill>
              <a:srgbClr val="29B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10515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060704" y="105156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B6F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9B6F6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94360" y="1572768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94360" y="1883664"/>
            <a:ext cx="248716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Region / series selector (dropdown)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Forecast horizon (1–4 weeks)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Crude-oil feature toggle (optional)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94360" y="299923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94360" y="3310128"/>
            <a:ext cx="2487168" cy="138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Forecast table (price + horizon)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History + forecast line chart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Last-updated stamp from EIA pull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Top feature drivers (SHAP panel)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CSV download (stretch goal)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291840" y="2633472"/>
            <a:ext cx="594360" cy="54864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3218688" y="245059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HTTPS POST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977640" y="914400"/>
            <a:ext cx="2377440" cy="3931920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977640" y="914400"/>
            <a:ext cx="237744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0" y="10515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4572000" y="1051560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897B"/>
                </a:solidFill>
                <a:latin typeface="Trebuchet MS"/>
                <a:ea typeface="Trebuchet MS"/>
                <a:cs typeface="Trebuchet MS"/>
                <a:sym typeface="Trebuchet MS"/>
              </a:rPr>
              <a:t>Flask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114800" y="1572768"/>
            <a:ext cx="21031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/predict endpoint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Accepts JSON feature payload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Loads saved model artifact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Returns price predictions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Optional: prediction intervals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Dockerized for deployment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419088" y="2633472"/>
            <a:ext cx="59436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345936" y="2450592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JSON response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086600" y="914400"/>
            <a:ext cx="1691640" cy="3931920"/>
          </a:xfrm>
          <a:prstGeom prst="rect">
            <a:avLst/>
          </a:prstGeom>
          <a:solidFill>
            <a:srgbClr val="132B4E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086600" y="914400"/>
            <a:ext cx="169164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5472" y="1051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/>
          <p:nvPr/>
        </p:nvSpPr>
        <p:spPr>
          <a:xfrm>
            <a:off x="7616952" y="10515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Deploy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205472" y="1572768"/>
            <a:ext cx="1463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GCP Cloud 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Streamlit host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Docker images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Auto-scale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520" y="347472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4630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914400" y="109728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Architecture &amp; Timeline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11480" y="960120"/>
            <a:ext cx="1417320" cy="105156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832" y="10149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484632" y="1380744"/>
            <a:ext cx="1307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EIA Open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48056" y="1819656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eia.gov/opendata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856232" y="1444752"/>
            <a:ext cx="146304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2029968" y="960120"/>
            <a:ext cx="1417320" cy="105156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0320" y="10149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2103120" y="1380744"/>
            <a:ext cx="1307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collect.py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+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066544" y="1819656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pandas → Parquet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474720" y="1444752"/>
            <a:ext cx="146304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648456" y="960120"/>
            <a:ext cx="1417320" cy="1051560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8808" y="10149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3721608" y="1380744"/>
            <a:ext cx="1307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train.py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685032" y="1819656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XGBoost / SARIMA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093208" y="1444752"/>
            <a:ext cx="146304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266944" y="960120"/>
            <a:ext cx="1417320" cy="105156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7296" y="10149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5340096" y="1380744"/>
            <a:ext cx="1307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Flask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(Docker)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303520" y="1819656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711696" y="1444752"/>
            <a:ext cx="146304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885432" y="960120"/>
            <a:ext cx="1417320" cy="105156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15784" y="101498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6958584" y="1380744"/>
            <a:ext cx="1307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(Docker)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922008" y="1819656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E5FF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E5FF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527048" y="2231136"/>
            <a:ext cx="1005840" cy="54864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527048" y="2231136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FRED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(optional)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9"/>
          <p:cNvCxnSpPr/>
          <p:nvPr/>
        </p:nvCxnSpPr>
        <p:spPr>
          <a:xfrm rot="10800000">
            <a:off x="2029968" y="2011680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3" name="Google Shape;213;p9"/>
          <p:cNvSpPr/>
          <p:nvPr/>
        </p:nvSpPr>
        <p:spPr>
          <a:xfrm>
            <a:off x="411480" y="2889504"/>
            <a:ext cx="8321040" cy="347472"/>
          </a:xfrm>
          <a:prstGeom prst="rect">
            <a:avLst/>
          </a:prstGeom>
          <a:solidFill>
            <a:srgbClr val="0A2342"/>
          </a:solidFill>
          <a:ln cap="flat" cmpd="sng" w="12700">
            <a:solidFill>
              <a:srgbClr val="0A2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548640" y="2926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Milestone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035040" y="2926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11480" y="3273552"/>
            <a:ext cx="832104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75488" y="3364992"/>
            <a:ext cx="146304" cy="146304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713232" y="3310128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EIA API + EDA notebook committed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035040" y="331012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Before proposal presentation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11480" y="3621024"/>
            <a:ext cx="8321040" cy="32918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75488" y="3712464"/>
            <a:ext cx="146304" cy="146304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713232" y="365760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Baseline + ML model w/ backtest metrics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03504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Mid-May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11480" y="3968496"/>
            <a:ext cx="832104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75488" y="4059936"/>
            <a:ext cx="146304" cy="146304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713232" y="400507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Flask API + Dockerfile + local Docker test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035040" y="400507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 May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11480" y="4315968"/>
            <a:ext cx="8321040" cy="32918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75488" y="4407408"/>
            <a:ext cx="146304" cy="146304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713232" y="4352544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Streamlit app wired to Flask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035040" y="43525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Early June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75488" y="4754880"/>
            <a:ext cx="146304" cy="146304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713232" y="4700016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Run deploy + README links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035040" y="470001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June 1–2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