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" y="4480560"/>
            <a:ext cx="2011680" cy="2011680"/>
          </a:xfrm>
          <a:prstGeom prst="ellipse">
            <a:avLst/>
          </a:prstGeom>
          <a:solidFill>
            <a:srgbClr val="0A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74720" y="274320"/>
            <a:ext cx="1280160" cy="1280160"/>
          </a:xfrm>
          <a:prstGeom prst="ellipse">
            <a:avLst/>
          </a:prstGeom>
          <a:solidFill>
            <a:srgbClr val="0A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73152" cy="2560320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7A99"/>
                </a:solidFill>
              </a:rPr>
              <a:t>EarthSafe</a:t>
            </a:r>
            <a:endParaRPr sz="5400" b="1" i="0">
              <a:solidFill>
                <a:srgbClr val="007A9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Earthquake Hazard
Classification App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DE"/>
                </a:solidFill>
              </a:rPr>
              <a:t>Predicting earthquake danger levels
using USGS real-world data</a:t>
            </a:r>
            <a:endParaRPr sz="1500" b="0" i="1">
              <a:solidFill>
                <a:srgbClr val="B0C8D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4983480"/>
            <a:ext cx="3200400" cy="36576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Yutong Ma</a:t>
            </a:r>
            <a:endParaRPr sz="1700" b="1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DE"/>
                </a:solidFill>
              </a:rPr>
              <a:t>STAT 418  |  May 2026</a:t>
            </a:r>
            <a:endParaRPr sz="1300" b="0" i="0">
              <a:solidFill>
                <a:srgbClr val="B0C8D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13716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</a:rPr>
              <a:t>What is EarthSafe?</a:t>
            </a:r>
            <a:endParaRPr sz="2000" b="1" i="0">
              <a:solidFill>
                <a:srgbClr val="0D2B55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0" y="1810512"/>
            <a:ext cx="6217920" cy="2743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92024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EarthSafe is a machine learning application
that classifies earthquake danger levels
using live seismic data from the USGS API.</a:t>
            </a:r>
            <a:endParaRPr sz="1700" b="0" i="0">
              <a:solidFill>
                <a:srgbClr val="1A1A2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0" y="3063240"/>
            <a:ext cx="1965960" cy="1737360"/>
          </a:xfrm>
          <a:prstGeom prst="rect">
            <a:avLst/>
          </a:prstGeom>
          <a:solidFill>
            <a:srgbClr val="F0F5FA"/>
          </a:solidFill>
          <a:ln w="25400">
            <a:solidFill>
              <a:srgbClr val="1A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3063240"/>
            <a:ext cx="1965960" cy="347472"/>
          </a:xfrm>
          <a:prstGeom prst="rect">
            <a:avLst/>
          </a:prstGeom>
          <a:solidFill>
            <a:srgbClr val="1A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0815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LOW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77840" y="35204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9E5E"/>
                </a:solidFill>
              </a:rPr>
              <a:t>M &lt; 4.0
Rarely felt</a:t>
            </a:r>
            <a:endParaRPr sz="1500" b="1" i="0">
              <a:solidFill>
                <a:srgbClr val="1A9E5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18120" y="3063240"/>
            <a:ext cx="1965960" cy="1737360"/>
          </a:xfrm>
          <a:prstGeom prst="rect">
            <a:avLst/>
          </a:prstGeom>
          <a:solidFill>
            <a:srgbClr val="F0F5FA"/>
          </a:solidFill>
          <a:ln w="25400">
            <a:solidFill>
              <a:srgbClr val="D4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3063240"/>
            <a:ext cx="1965960" cy="347472"/>
          </a:xfrm>
          <a:prstGeom prst="rect">
            <a:avLst/>
          </a:prstGeom>
          <a:solidFill>
            <a:srgbClr val="D4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0815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MODERATE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09560" y="35204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8C00"/>
                </a:solidFill>
              </a:rPr>
              <a:t>M 4.0–6.0
Damage possible</a:t>
            </a:r>
            <a:endParaRPr sz="1500" b="1" i="0">
              <a:solidFill>
                <a:srgbClr val="D48C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149840" y="3063240"/>
            <a:ext cx="1965960" cy="1737360"/>
          </a:xfrm>
          <a:prstGeom prst="rect">
            <a:avLst/>
          </a:prstGeom>
          <a:solidFill>
            <a:srgbClr val="F0F5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40" y="3063240"/>
            <a:ext cx="196596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30815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HIGH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0" y="35204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</a:rPr>
              <a:t>M &gt; 6.0
Serious danger</a:t>
            </a:r>
            <a:endParaRPr sz="1500" b="1" i="0">
              <a:solidFill>
                <a:srgbClr val="C0392B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0" y="50749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B82"/>
                </a:solidFill>
              </a:rPr>
              <a:t>Built with  Python · XGBoost · Flask · Streamlit · Docker · Google Cloud Run</a:t>
            </a:r>
            <a:endParaRPr sz="1200" b="0" i="1">
              <a:solidFill>
                <a:srgbClr val="556B8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Problem Are We Solving?</a:t>
            </a:r>
            <a:endParaRPr sz="32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B82"/>
                </a:solidFill>
              </a:rPr>
              <a:t>EarthSafe  |  Yutong Ma  |  STAT 418 — Tools in Data Science  |  May 2026</a:t>
            </a:r>
            <a:endParaRPr sz="1000" b="0" i="0">
              <a:solidFill>
                <a:srgbClr val="556B8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394960" cy="1188720"/>
          </a:xfrm>
          <a:prstGeom prst="rect">
            <a:avLst/>
          </a:prstGeom>
          <a:solidFill>
            <a:srgbClr val="F0F5FA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91440" cy="1188720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247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A99"/>
                </a:solidFill>
              </a:rPr>
              <a:t>500,000+</a:t>
            </a:r>
            <a:endParaRPr sz="2000" b="1" i="0">
              <a:solidFill>
                <a:srgbClr val="007A9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1206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>
                <a:solidFill>
                  <a:srgbClr val="1A1A2E"/>
                </a:solidFill>
              </a:rPr>
              <a:t>E</a:t>
            </a:r>
            <a:r>
              <a:rPr sz="1600" b="0" i="0">
                <a:solidFill>
                  <a:srgbClr val="1A1A2E"/>
                </a:solidFill>
              </a:rPr>
              <a:t>arthquakes occur worldwide every year</a:t>
            </a:r>
            <a:endParaRPr sz="1600" b="0" i="0">
              <a:solidFill>
                <a:srgbClr val="1A1A2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80760" y="1051560"/>
            <a:ext cx="5394960" cy="1188720"/>
          </a:xfrm>
          <a:prstGeom prst="rect">
            <a:avLst/>
          </a:prstGeom>
          <a:solidFill>
            <a:srgbClr val="F0F5FA"/>
          </a:solidFill>
          <a:ln w="190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051560"/>
            <a:ext cx="91440" cy="11887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247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6A10"/>
                </a:solidFill>
              </a:rPr>
              <a:t>The Problem</a:t>
            </a:r>
            <a:endParaRPr sz="2000" b="1" i="0">
              <a:solidFill>
                <a:srgbClr val="E86A1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People cannot quickly assess if an earthquake is dangerous</a:t>
            </a:r>
            <a:endParaRPr sz="1600" b="0" i="0">
              <a:solidFill>
                <a:srgbClr val="1A1A2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" y="2377440"/>
            <a:ext cx="5394960" cy="1188720"/>
          </a:xfrm>
          <a:prstGeom prst="rect">
            <a:avLst/>
          </a:prstGeom>
          <a:solidFill>
            <a:srgbClr val="F0F5FA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77440"/>
            <a:ext cx="9144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505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</a:rPr>
              <a:t>Our Goal</a:t>
            </a:r>
            <a:endParaRPr sz="2000" b="1" i="0">
              <a:solidFill>
                <a:srgbClr val="0D2B55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28803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Predict hazard level — Low / Moderate / High — using ML</a:t>
            </a:r>
            <a:endParaRPr sz="1600" b="0" i="0">
              <a:solidFill>
                <a:srgbClr val="1A1A2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80760" y="2377440"/>
            <a:ext cx="5394960" cy="1188720"/>
          </a:xfrm>
          <a:prstGeom prst="rect">
            <a:avLst/>
          </a:prstGeom>
          <a:solidFill>
            <a:srgbClr val="F0F5FA"/>
          </a:solidFill>
          <a:ln w="19050">
            <a:solidFill>
              <a:srgbClr val="1A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2377440"/>
            <a:ext cx="91440" cy="1188720"/>
          </a:xfrm>
          <a:prstGeom prst="rect">
            <a:avLst/>
          </a:prstGeom>
          <a:solidFill>
            <a:srgbClr val="1A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4505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9E5E"/>
                </a:solidFill>
              </a:rPr>
              <a:t>Target Users</a:t>
            </a:r>
            <a:endParaRPr sz="2000" b="1" i="0">
              <a:solidFill>
                <a:srgbClr val="1A9E5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63640" y="28803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General public, emergency responders, researchers</a:t>
            </a:r>
            <a:endParaRPr sz="1600" b="0" i="0">
              <a:solidFill>
                <a:srgbClr val="1A1A2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11521440" cy="1417320"/>
          </a:xfrm>
          <a:prstGeom prst="rect">
            <a:avLst/>
          </a:prstGeom>
          <a:solidFill>
            <a:srgbClr val="0D2B55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648075"/>
            <a:ext cx="1738630" cy="12896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 b="1" i="0">
                <a:solidFill>
                  <a:srgbClr val="007A99"/>
                </a:solidFill>
              </a:rPr>
              <a:t>~20%</a:t>
            </a:r>
            <a:endParaRPr sz="4800" b="1" i="0">
              <a:solidFill>
                <a:srgbClr val="007A99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of earthquakes are felt by humans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437083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DE"/>
                </a:solidFill>
              </a:rPr>
              <a:t>— but ALL are recorded by USGS sensors. That means we have data for every single one.</a:t>
            </a:r>
            <a:endParaRPr sz="1500" b="0" i="1">
              <a:solidFill>
                <a:srgbClr val="B0C8D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5257800"/>
            <a:ext cx="11521440" cy="822960"/>
          </a:xfrm>
          <a:prstGeom prst="rect">
            <a:avLst/>
          </a:prstGeom>
          <a:solidFill>
            <a:srgbClr val="F0F5FA"/>
          </a:solidFill>
          <a:ln w="19050">
            <a:solidFill>
              <a:srgbClr val="6C3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B9E"/>
                </a:solidFill>
              </a:rPr>
              <a:t>Personal Motivation</a:t>
            </a:r>
            <a:endParaRPr sz="1400" b="1" i="0">
              <a:solidFill>
                <a:srgbClr val="6C3B9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91840" y="530352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Earthquakes are unpredictable — but data is not. Fast hazard assessment can help emergency teams respond faster and save lives. I chose this project because the data is real, free, and immediately usable.</a:t>
            </a:r>
            <a:endParaRPr sz="1300" b="0" i="1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Source &amp; Collection</a:t>
            </a:r>
            <a:endParaRPr sz="3200" b="1" i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DE"/>
                </a:solidFill>
              </a:rPr>
              <a:t>USGS Earthquake Hazards Program API</a:t>
            </a:r>
            <a:endParaRPr sz="1400" b="0" i="1">
              <a:solidFill>
                <a:srgbClr val="B0C8D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B82"/>
                </a:solidFill>
              </a:rPr>
              <a:t>EarthSafe  |  Yutong Ma  |  STAT 418 — Tools in Data Science  |  May 2026</a:t>
            </a:r>
            <a:endParaRPr sz="1000" b="0" i="0">
              <a:solidFill>
                <a:srgbClr val="556B8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4846320" cy="4800600"/>
          </a:xfrm>
          <a:prstGeom prst="rect">
            <a:avLst/>
          </a:prstGeom>
          <a:solidFill>
            <a:srgbClr val="F0F5FA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A99"/>
                </a:solidFill>
              </a:rPr>
              <a:t>Data Source</a:t>
            </a:r>
            <a:endParaRPr sz="1700" b="1" i="0">
              <a:solidFill>
                <a:srgbClr val="007A99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4480560" cy="27432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0352" y="1746504"/>
            <a:ext cx="91440" cy="91440"/>
          </a:xfrm>
          <a:prstGeom prst="ellipse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6420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USGS Earthquake Hazards Program API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30352" y="2167128"/>
            <a:ext cx="91440" cy="91440"/>
          </a:xfrm>
          <a:prstGeom prst="ellipse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848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Free — no account or key needed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30352" y="2587752"/>
            <a:ext cx="91440" cy="91440"/>
          </a:xfrm>
          <a:prstGeom prst="ellipse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50545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earthquake.usgs.gov/fdsnws/event/1/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30352" y="3008376"/>
            <a:ext cx="91440" cy="91440"/>
          </a:xfrm>
          <a:prstGeom prst="ellipse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926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Real-time global earthquake data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530352" y="3429000"/>
            <a:ext cx="91440" cy="91440"/>
          </a:xfrm>
          <a:prstGeom prst="ellipse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34670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Returns clean JSON in seconds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4754880" cy="1691640"/>
          </a:xfrm>
          <a:prstGeom prst="rect">
            <a:avLst/>
          </a:prstGeom>
          <a:solidFill>
            <a:srgbClr val="F8F8F8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37A"/>
                </a:solidFill>
              </a:rPr>
              <a:t>import requests
url = 'https://earthquake.usgs.gov/fdsnws/event/1/query'
params = {'format':'geojson',
          'starttime':'2020-01-01',
          'minmagnitude':2.5,
          'limit':2000}
data = requests.get(url, params=params).json()</a:t>
            </a:r>
            <a:endParaRPr sz="1100" b="0" i="0">
              <a:solidFill>
                <a:srgbClr val="1A537A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394960" y="1051560"/>
            <a:ext cx="6492240" cy="4800600"/>
          </a:xfrm>
          <a:prstGeom prst="rect">
            <a:avLst/>
          </a:prstGeom>
          <a:solidFill>
            <a:srgbClr val="F0F5FA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1170432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A99"/>
                </a:solidFill>
              </a:rPr>
              <a:t>Dataset Features</a:t>
            </a:r>
            <a:endParaRPr sz="1700" b="1" i="0">
              <a:solidFill>
                <a:srgbClr val="007A99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577840" y="1554480"/>
            <a:ext cx="6126480" cy="27432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0680" y="1664208"/>
            <a:ext cx="320040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1664208"/>
            <a:ext cx="315468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17007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78240" y="1700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Example Value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40680" y="2029968"/>
            <a:ext cx="3200400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0" y="2029968"/>
            <a:ext cx="3154680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20665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magnitude</a:t>
            </a:r>
            <a:endParaRPr sz="1300" b="0" i="0">
              <a:solidFill>
                <a:srgbClr val="1A1A2E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78240" y="20665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B82"/>
                </a:solidFill>
              </a:rPr>
              <a:t>5.2</a:t>
            </a:r>
            <a:endParaRPr sz="1300" b="0" i="0">
              <a:solidFill>
                <a:srgbClr val="556B82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40680" y="2395728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0" y="2395728"/>
            <a:ext cx="3154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2432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depth (km)</a:t>
            </a:r>
            <a:endParaRPr sz="1300" b="0" i="0">
              <a:solidFill>
                <a:srgbClr val="1A1A2E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778240" y="2432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B82"/>
                </a:solidFill>
              </a:rPr>
              <a:t>12.4</a:t>
            </a:r>
            <a:endParaRPr sz="1300" b="0" i="0">
              <a:solidFill>
                <a:srgbClr val="556B82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40680" y="2761488"/>
            <a:ext cx="3200400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0" y="2761488"/>
            <a:ext cx="3154680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32120" y="27980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latitude</a:t>
            </a:r>
            <a:endParaRPr sz="1300" b="0" i="0">
              <a:solidFill>
                <a:srgbClr val="1A1A2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78240" y="2798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B82"/>
                </a:solidFill>
              </a:rPr>
              <a:t>37.77</a:t>
            </a:r>
            <a:endParaRPr sz="1300" b="0" i="0">
              <a:solidFill>
                <a:srgbClr val="556B82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40680" y="3127248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6800" y="3127248"/>
            <a:ext cx="3154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31638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longitude</a:t>
            </a:r>
            <a:endParaRPr sz="1300" b="0" i="0">
              <a:solidFill>
                <a:srgbClr val="1A1A2E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78240" y="31638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B82"/>
                </a:solidFill>
              </a:rPr>
              <a:t>-122.41</a:t>
            </a:r>
            <a:endParaRPr sz="1300" b="0" i="0">
              <a:solidFill>
                <a:srgbClr val="556B82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40680" y="3493008"/>
            <a:ext cx="3200400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86800" y="3493008"/>
            <a:ext cx="3154680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0" y="35295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place</a:t>
            </a:r>
            <a:endParaRPr sz="1300" b="0" i="0">
              <a:solidFill>
                <a:srgbClr val="1A1A2E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78240" y="35295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B82"/>
                </a:solidFill>
              </a:rPr>
              <a:t>10km NE of San Jose, CA</a:t>
            </a:r>
            <a:endParaRPr sz="1300" b="0" i="0">
              <a:solidFill>
                <a:srgbClr val="556B82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40680" y="3858768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86800" y="3858768"/>
            <a:ext cx="3154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3895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gap (degrees)</a:t>
            </a:r>
            <a:endParaRPr sz="1300" b="0" i="0">
              <a:solidFill>
                <a:srgbClr val="1A1A2E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78240" y="3895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B82"/>
                </a:solidFill>
              </a:rPr>
              <a:t>85.0</a:t>
            </a:r>
            <a:endParaRPr sz="1300" b="0" i="0">
              <a:solidFill>
                <a:srgbClr val="556B82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40680" y="4224528"/>
            <a:ext cx="3200400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86800" y="4224528"/>
            <a:ext cx="3154680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32120" y="42611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rms</a:t>
            </a:r>
            <a:endParaRPr sz="1300" b="0" i="0">
              <a:solidFill>
                <a:srgbClr val="1A1A2E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78240" y="4261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B82"/>
                </a:solidFill>
              </a:rPr>
              <a:t>0.45</a:t>
            </a:r>
            <a:endParaRPr sz="1300" b="0" i="0">
              <a:solidFill>
                <a:srgbClr val="556B82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40680" y="4590288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686800" y="4590288"/>
            <a:ext cx="3154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32120" y="46268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hazard_label</a:t>
            </a:r>
            <a:endParaRPr sz="1300" b="0" i="0">
              <a:solidFill>
                <a:srgbClr val="1A1A2E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778240" y="46268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6A10"/>
                </a:solidFill>
              </a:rPr>
              <a:t>Moderate  ← target</a:t>
            </a:r>
            <a:endParaRPr sz="1300" b="0" i="0">
              <a:solidFill>
                <a:srgbClr val="E86A1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20040" y="5961888"/>
            <a:ext cx="1152144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007608"/>
            <a:ext cx="11247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2,000+ earthquakes collected from 2023–2024 in under 1 minute using Python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20040" y="5577840"/>
            <a:ext cx="11521440" cy="347472"/>
          </a:xfrm>
          <a:prstGeom prst="rect">
            <a:avLst/>
          </a:prstGeom>
          <a:solidFill>
            <a:srgbClr val="FFF3E0"/>
          </a:solidFill>
          <a:ln w="1524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6052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3B00"/>
                </a:solidFill>
              </a:rPr>
              <a:t>⚠  Challenge: 3% of records had missing depth values  →  Solution: removed null records; final dataset is clean and complete.</a:t>
            </a:r>
            <a:endParaRPr sz="1200" b="0" i="0">
              <a:solidFill>
                <a:srgbClr val="7A3B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Does the Data Tell Us?</a:t>
            </a:r>
            <a:endParaRPr sz="3200" b="1" i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DE"/>
                </a:solidFill>
              </a:rPr>
              <a:t>Real data  —  2,000 earthquakes, 2023–2024  (M ≥ 2.5)</a:t>
            </a:r>
            <a:endParaRPr sz="1400" b="0" i="1">
              <a:solidFill>
                <a:srgbClr val="B0C8D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B82"/>
                </a:solidFill>
              </a:rPr>
              <a:t>EarthSafe  |  Yutong Ma  |  STAT 418 — Tools in Data Science  |  May 2026</a:t>
            </a:r>
            <a:endParaRPr sz="1000" b="0" i="0">
              <a:solidFill>
                <a:srgbClr val="556B82"/>
              </a:solidFill>
            </a:endParaRPr>
          </a:p>
        </p:txBody>
      </p:sp>
      <p:pic>
        <p:nvPicPr>
          <p:cNvPr id="7" name="Picture 6" descr="chart1_magnitu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9" y="1078992"/>
            <a:ext cx="3749039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9749" y="374903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Magnitude Distribution</a:t>
            </a:r>
            <a:endParaRPr sz="1300" b="1" i="0">
              <a:solidFill>
                <a:srgbClr val="0D2B55"/>
              </a:solidFill>
            </a:endParaRPr>
          </a:p>
        </p:txBody>
      </p:sp>
      <p:pic>
        <p:nvPicPr>
          <p:cNvPr id="9" name="Picture 8" descr="chart2_depth_m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956" y="1078992"/>
            <a:ext cx="3749039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19956" y="374903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Depth vs. Magnitude</a:t>
            </a:r>
            <a:endParaRPr sz="1300" b="1" i="0">
              <a:solidFill>
                <a:srgbClr val="0D2B55"/>
              </a:solidFill>
            </a:endParaRPr>
          </a:p>
        </p:txBody>
      </p:sp>
      <p:pic>
        <p:nvPicPr>
          <p:cNvPr id="11" name="Picture 10" descr="chart3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163" y="1078992"/>
            <a:ext cx="3749039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70163" y="374903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Global Distribution Map</a:t>
            </a:r>
            <a:endParaRPr sz="1300" b="1" i="0">
              <a:solidFill>
                <a:srgbClr val="0D2B55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4160520"/>
            <a:ext cx="11521440" cy="1783080"/>
          </a:xfrm>
          <a:prstGeom prst="rect">
            <a:avLst/>
          </a:prstGeom>
          <a:solidFill>
            <a:srgbClr val="F0F5FA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519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Key Findings</a:t>
            </a:r>
            <a:endParaRPr sz="1600" b="1" i="0">
              <a:solidFill>
                <a:srgbClr val="0D2B55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1A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663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9E5E"/>
                </a:solidFill>
              </a:rPr>
              <a:t>51.6%</a:t>
            </a:r>
            <a:endParaRPr sz="1500" b="1" i="0">
              <a:solidFill>
                <a:srgbClr val="1A9E5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6080" y="46634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of M≥2.5 earthquakes are Low Hazard  (includes all magnitudes → even higher)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2920" y="5157216"/>
            <a:ext cx="128016" cy="128016"/>
          </a:xfrm>
          <a:prstGeom prst="ellipse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0657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A10"/>
                </a:solidFill>
              </a:rPr>
              <a:t>Depth &lt; 70 km</a:t>
            </a:r>
            <a:endParaRPr sz="1500" b="1" i="0">
              <a:solidFill>
                <a:srgbClr val="E86A1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6080" y="506577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shallow quakes show the strongest link to surface impact — top predictor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502920" y="5559552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4681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Pacific Rim</a:t>
            </a:r>
            <a:endParaRPr sz="1500" b="1" i="0">
              <a:solidFill>
                <a:srgbClr val="C0392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26080" y="546811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California, Alaska, Japan — clear high-density clusters on the global map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0040" y="5961888"/>
            <a:ext cx="5577840" cy="475488"/>
          </a:xfrm>
          <a:prstGeom prst="rect">
            <a:avLst/>
          </a:prstGeom>
          <a:solidFill>
            <a:srgbClr val="E8F5E9"/>
          </a:solidFill>
          <a:ln w="15240">
            <a:solidFill>
              <a:srgbClr val="1A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9E5E"/>
                </a:solidFill>
              </a:rPr>
              <a:t>Data Quality</a:t>
            </a:r>
            <a:endParaRPr sz="1200" b="1" i="0">
              <a:solidFill>
                <a:srgbClr val="1A9E5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20240" y="5989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Removed 3% null-depth records · No duplicates · Ready to model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35040" y="5961888"/>
            <a:ext cx="5833872" cy="475488"/>
          </a:xfrm>
          <a:prstGeom prst="rect">
            <a:avLst/>
          </a:prstGeom>
          <a:solidFill>
            <a:srgbClr val="E3F2FD"/>
          </a:solidFill>
          <a:ln w="1524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5989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99"/>
                </a:solidFill>
              </a:rPr>
              <a:t>Feature Engineering</a:t>
            </a:r>
            <a:endParaRPr sz="1200" b="1" i="0">
              <a:solidFill>
                <a:srgbClr val="007A99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38160" y="5989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New feature: shallow_flag (depth &lt; 70 km) · Encode location region</a:t>
            </a:r>
            <a:endParaRPr sz="1200" b="0" i="0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Will We Build the Model?</a:t>
            </a:r>
            <a:endParaRPr sz="3200" b="1" i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DE"/>
                </a:solidFill>
              </a:rPr>
              <a:t>3-Class Hazard Classification</a:t>
            </a:r>
            <a:endParaRPr sz="1400" b="0" i="1">
              <a:solidFill>
                <a:srgbClr val="B0C8D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B82"/>
                </a:solidFill>
              </a:rPr>
              <a:t>EarthSafe  |  Yutong Ma  |  STAT 418 — Tools in Data Science  |  May 2026</a:t>
            </a:r>
            <a:endParaRPr sz="1000" b="0" i="0">
              <a:solidFill>
                <a:srgbClr val="556B8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309360" cy="4800600"/>
          </a:xfrm>
          <a:prstGeom prst="rect">
            <a:avLst/>
          </a:prstGeom>
          <a:solidFill>
            <a:srgbClr val="F0F5FA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A99"/>
                </a:solidFill>
              </a:rPr>
              <a:t>Model Plan</a:t>
            </a:r>
            <a:endParaRPr sz="1700" b="1" i="0">
              <a:solidFill>
                <a:srgbClr val="007A99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943600" cy="27432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64208"/>
            <a:ext cx="6217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282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99"/>
                </a:solidFill>
              </a:rPr>
              <a:t>Task</a:t>
            </a:r>
            <a:endParaRPr sz="1400" b="1" i="0">
              <a:solidFill>
                <a:srgbClr val="007A9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48840" y="17282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3-class classification: Low / Moderate / High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6217920" cy="4572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99"/>
                </a:solidFill>
              </a:rPr>
              <a:t>Features</a:t>
            </a:r>
            <a:endParaRPr sz="1400" b="1" i="0">
              <a:solidFill>
                <a:srgbClr val="007A9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8840" y="22402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magnitude, depth, gap, rms, location type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88336"/>
            <a:ext cx="6217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523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99"/>
                </a:solidFill>
              </a:rPr>
              <a:t>Models</a:t>
            </a:r>
            <a:endParaRPr sz="1400" b="1" i="0">
              <a:solidFill>
                <a:srgbClr val="007A9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8840" y="275234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Random Forest  ·  XGBoost  ·  Logistic Regression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3200400"/>
            <a:ext cx="6217920" cy="4572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644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99"/>
                </a:solidFill>
              </a:rPr>
              <a:t>Evaluation</a:t>
            </a:r>
            <a:endParaRPr sz="1400" b="1" i="0">
              <a:solidFill>
                <a:srgbClr val="007A9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48840" y="32644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Macro F1-score  ·  Accuracy  ·  Confusion Matrix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3712464"/>
            <a:ext cx="6217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764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99"/>
                </a:solidFill>
              </a:rPr>
              <a:t>Baseline</a:t>
            </a:r>
            <a:endParaRPr sz="1400" b="1" i="0">
              <a:solidFill>
                <a:srgbClr val="007A99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48840" y="37764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Majority-class classifier  (~52% accuracy)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" y="4224528"/>
            <a:ext cx="6217920" cy="4572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2885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99"/>
                </a:solidFill>
              </a:rPr>
              <a:t>Target</a:t>
            </a:r>
            <a:endParaRPr sz="1400" b="1" i="0">
              <a:solidFill>
                <a:srgbClr val="007A99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48840" y="428853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85%+ macro F1-score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58000" y="1051560"/>
            <a:ext cx="5010912" cy="4800600"/>
          </a:xfrm>
          <a:prstGeom prst="rect">
            <a:avLst/>
          </a:prstGeom>
          <a:solidFill>
            <a:srgbClr val="F0F5FA"/>
          </a:solidFill>
          <a:ln w="190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117043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6A10"/>
                </a:solidFill>
              </a:rPr>
              <a:t>Expected Feature Importance</a:t>
            </a:r>
            <a:endParaRPr sz="1700" b="1" i="0">
              <a:solidFill>
                <a:srgbClr val="E86A1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040880" y="1554480"/>
            <a:ext cx="4663440" cy="27432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16916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1. magnitude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783320" y="1764792"/>
            <a:ext cx="2691993" cy="219456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83320" y="1764792"/>
            <a:ext cx="2926080" cy="219456"/>
          </a:xfrm>
          <a:prstGeom prst="rect">
            <a:avLst/>
          </a:prstGeom>
          <a:solidFill>
            <a:srgbClr val="E0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83320" y="1764792"/>
            <a:ext cx="2691993" cy="219456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48465" y="16916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99"/>
                </a:solidFill>
              </a:rPr>
              <a:t>92%</a:t>
            </a:r>
            <a:endParaRPr sz="1300" b="1" i="0">
              <a:solidFill>
                <a:srgbClr val="007A99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40880" y="22219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2. depth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783320" y="2295144"/>
            <a:ext cx="2282342" cy="219456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83320" y="2295144"/>
            <a:ext cx="2926080" cy="219456"/>
          </a:xfrm>
          <a:prstGeom prst="rect">
            <a:avLst/>
          </a:prstGeom>
          <a:solidFill>
            <a:srgbClr val="E0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83320" y="2295144"/>
            <a:ext cx="2282342" cy="219456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38814" y="22219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99"/>
                </a:solidFill>
              </a:rPr>
              <a:t>78%</a:t>
            </a:r>
            <a:endParaRPr sz="1300" b="1" i="0">
              <a:solidFill>
                <a:srgbClr val="007A99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40880" y="275234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3. gap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783320" y="2825496"/>
            <a:ext cx="1521561" cy="219456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83320" y="2825496"/>
            <a:ext cx="2926080" cy="219456"/>
          </a:xfrm>
          <a:prstGeom prst="rect">
            <a:avLst/>
          </a:prstGeom>
          <a:solidFill>
            <a:srgbClr val="E0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83320" y="2825496"/>
            <a:ext cx="1521561" cy="219456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033" y="275234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10"/>
                </a:solidFill>
              </a:rPr>
              <a:t>52%</a:t>
            </a:r>
            <a:endParaRPr sz="1300" b="1" i="0">
              <a:solidFill>
                <a:srgbClr val="E86A1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040880" y="32826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4. rms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783320" y="3355848"/>
            <a:ext cx="1024127" cy="219456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83320" y="3355848"/>
            <a:ext cx="2926080" cy="219456"/>
          </a:xfrm>
          <a:prstGeom prst="rect">
            <a:avLst/>
          </a:prstGeom>
          <a:solidFill>
            <a:srgbClr val="E0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83320" y="3355848"/>
            <a:ext cx="1024127" cy="219456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80600" y="32826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10"/>
                </a:solidFill>
              </a:rPr>
              <a:t>35%</a:t>
            </a:r>
            <a:endParaRPr sz="1300" b="1" i="0">
              <a:solidFill>
                <a:srgbClr val="E86A1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040880" y="38130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5. location region</a:t>
            </a:r>
            <a:endParaRPr sz="1400" b="0" i="0">
              <a:solidFill>
                <a:srgbClr val="1A1A2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783320" y="3886200"/>
            <a:ext cx="702259" cy="219456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83320" y="3886200"/>
            <a:ext cx="2926080" cy="219456"/>
          </a:xfrm>
          <a:prstGeom prst="rect">
            <a:avLst/>
          </a:prstGeom>
          <a:solidFill>
            <a:srgbClr val="E0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83320" y="3886200"/>
            <a:ext cx="702259" cy="219456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8731" y="381304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B82"/>
                </a:solidFill>
              </a:rPr>
              <a:t>24%</a:t>
            </a:r>
            <a:endParaRPr sz="1300" b="1" i="0">
              <a:solidFill>
                <a:srgbClr val="556B82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20040" y="5085080"/>
            <a:ext cx="6309360" cy="949960"/>
          </a:xfrm>
          <a:prstGeom prst="rect">
            <a:avLst/>
          </a:prstGeom>
          <a:solidFill>
            <a:srgbClr val="F0F5FA"/>
          </a:solidFill>
          <a:ln w="190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745355"/>
            <a:ext cx="5943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E86A10"/>
                </a:solidFill>
              </a:rPr>
              <a:t>Why these models?</a:t>
            </a:r>
            <a:endParaRPr sz="1400" b="1" i="0">
              <a:solidFill>
                <a:srgbClr val="E86A10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548640" y="5202682"/>
            <a:ext cx="91440" cy="91440"/>
          </a:xfrm>
          <a:prstGeom prst="ellipse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12953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10"/>
                </a:solidFill>
              </a:rPr>
              <a:t>XGBoost</a:t>
            </a:r>
            <a:endParaRPr sz="1200" b="1" i="0">
              <a:solidFill>
                <a:srgbClr val="E86A1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148840" y="5129530"/>
            <a:ext cx="4663440" cy="2933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Handles class imbalance well; top performance on tabular data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548640" y="5495290"/>
            <a:ext cx="91440" cy="91440"/>
          </a:xfrm>
          <a:prstGeom prst="ellipse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42213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10"/>
                </a:solidFill>
              </a:rPr>
              <a:t>Random Forest</a:t>
            </a:r>
            <a:endParaRPr sz="1200" b="1" i="0">
              <a:solidFill>
                <a:srgbClr val="E86A1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148840" y="5422265"/>
            <a:ext cx="4713605" cy="3663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Robust, easy to interpret; good for feature importance analysis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548640" y="5787898"/>
            <a:ext cx="91440" cy="91440"/>
          </a:xfrm>
          <a:prstGeom prst="ellipse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571474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10"/>
                </a:solidFill>
              </a:rPr>
              <a:t>Logistic Reg.</a:t>
            </a:r>
            <a:endParaRPr sz="1200" b="1" i="0">
              <a:solidFill>
                <a:srgbClr val="E86A1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148840" y="571474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Fast baseline; helps verify that features are linearly separable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931025" y="4900930"/>
            <a:ext cx="4778375" cy="594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100" i="1">
                <a:solidFill>
                  <a:srgbClr val="556B82"/>
                </a:solidFill>
                <a:sym typeface="+mn-ea"/>
              </a:rPr>
              <a:t>* Based on EDA findings. Actual values confirmed after model training in Week 7.</a:t>
            </a:r>
            <a:endParaRPr lang="zh-CN" altLang="en-US" sz="1100" i="1">
              <a:solidFill>
                <a:srgbClr val="556B82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Application &amp; Deployment Plan</a:t>
            </a:r>
            <a:endParaRPr sz="32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B82"/>
                </a:solidFill>
              </a:rPr>
              <a:t>EarthSafe  |  Yutong Ma  |  STAT 418 — Tools in Data Science  |  May 2026</a:t>
            </a:r>
            <a:endParaRPr sz="1000" b="0" i="0">
              <a:solidFill>
                <a:srgbClr val="556B8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" y="1060450"/>
            <a:ext cx="4846320" cy="2560320"/>
          </a:xfrm>
          <a:prstGeom prst="rect">
            <a:avLst/>
          </a:prstGeom>
          <a:solidFill>
            <a:srgbClr val="F0F5FA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7932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A99"/>
                </a:solidFill>
              </a:rPr>
              <a:t>Streamlit App Features</a:t>
            </a:r>
            <a:endParaRPr sz="1600" b="1" i="0">
              <a:solidFill>
                <a:srgbClr val="007A99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545082"/>
            <a:ext cx="4572000" cy="27432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1752" y="1764538"/>
            <a:ext cx="109728" cy="109728"/>
          </a:xfrm>
          <a:prstGeom prst="ellipse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73225"/>
            <a:ext cx="4523740" cy="384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Interactive world map — color-coded hazard markers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320167" y="2369058"/>
            <a:ext cx="109728" cy="109728"/>
          </a:xfrm>
          <a:prstGeom prst="ellipse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aseline="-25000"/>
          </a:p>
        </p:txBody>
      </p:sp>
      <p:sp>
        <p:nvSpPr>
          <p:cNvPr id="12" name="TextBox 11"/>
          <p:cNvSpPr txBox="1"/>
          <p:nvPr/>
        </p:nvSpPr>
        <p:spPr>
          <a:xfrm>
            <a:off x="502920" y="2241423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User inputs magnitude + depth → instant prediction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01752" y="2953258"/>
            <a:ext cx="109728" cy="109728"/>
          </a:xfrm>
          <a:prstGeom prst="ellipse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6181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Historical trend charts by region and year</a:t>
            </a:r>
            <a:endParaRPr sz="1500" b="0" i="0">
              <a:solidFill>
                <a:srgbClr val="1A1A2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73990" y="3300730"/>
            <a:ext cx="146304" cy="146304"/>
          </a:xfrm>
          <a:prstGeom prst="ellipse">
            <a:avLst/>
          </a:prstGeom>
          <a:solidFill>
            <a:srgbClr val="1A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9913" y="322770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9E5E"/>
                </a:solidFill>
              </a:rPr>
              <a:t>Green = Low</a:t>
            </a:r>
            <a:endParaRPr sz="1300" b="1" i="0">
              <a:solidFill>
                <a:srgbClr val="1A9E5E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774190" y="3300730"/>
            <a:ext cx="146304" cy="146304"/>
          </a:xfrm>
          <a:prstGeom prst="ellipse">
            <a:avLst/>
          </a:prstGeom>
          <a:solidFill>
            <a:srgbClr val="D4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3138" y="322770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8C00"/>
                </a:solidFill>
              </a:rPr>
              <a:t>Yellow = Moderate</a:t>
            </a:r>
            <a:endParaRPr sz="1300" b="1" i="0">
              <a:solidFill>
                <a:srgbClr val="D48C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752215" y="330073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8138" y="322770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Red = High</a:t>
            </a:r>
            <a:endParaRPr sz="1300" b="1" i="0">
              <a:solidFill>
                <a:srgbClr val="C0392B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20640" y="1060450"/>
            <a:ext cx="1335024" cy="2560320"/>
          </a:xfrm>
          <a:prstGeom prst="rect">
            <a:avLst/>
          </a:prstGeom>
          <a:solidFill>
            <a:srgbClr val="F0F5FA"/>
          </a:solidFill>
          <a:ln w="19050">
            <a:solidFill>
              <a:srgbClr val="1A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1060450"/>
            <a:ext cx="1335024" cy="347472"/>
          </a:xfrm>
          <a:prstGeom prst="rect">
            <a:avLst/>
          </a:prstGeom>
          <a:solidFill>
            <a:srgbClr val="1A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1078738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6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4648" y="1517650"/>
            <a:ext cx="12252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Data collection + EDA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47104" y="1060450"/>
            <a:ext cx="1335024" cy="2560320"/>
          </a:xfrm>
          <a:prstGeom prst="rect">
            <a:avLst/>
          </a:prstGeom>
          <a:solidFill>
            <a:srgbClr val="F0F5FA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47104" y="1060450"/>
            <a:ext cx="1335024" cy="34747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2824" y="1078738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7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11112" y="1517650"/>
            <a:ext cx="12252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Feature engineering + Training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973568" y="1060450"/>
            <a:ext cx="1335024" cy="2560320"/>
          </a:xfrm>
          <a:prstGeom prst="rect">
            <a:avLst/>
          </a:prstGeom>
          <a:solidFill>
            <a:srgbClr val="F0F5FA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73568" y="1060450"/>
            <a:ext cx="1335024" cy="347472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1078738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8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37576" y="1517650"/>
            <a:ext cx="12252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Model eval + Flask API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400032" y="1060450"/>
            <a:ext cx="1335024" cy="2560320"/>
          </a:xfrm>
          <a:prstGeom prst="rect">
            <a:avLst/>
          </a:prstGeom>
          <a:solidFill>
            <a:srgbClr val="F0F5FA"/>
          </a:solidFill>
          <a:ln w="190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00032" y="1060450"/>
            <a:ext cx="1335024" cy="34747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45752" y="1078738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9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64040" y="1517650"/>
            <a:ext cx="12252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Streamlit app + Docker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826496" y="1060450"/>
            <a:ext cx="1335024" cy="2560320"/>
          </a:xfrm>
          <a:prstGeom prst="rect">
            <a:avLst/>
          </a:prstGeom>
          <a:solidFill>
            <a:srgbClr val="F0F5FA"/>
          </a:solidFill>
          <a:ln w="190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26496" y="1060450"/>
            <a:ext cx="1335024" cy="34747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72216" y="1078738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10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890504" y="1517650"/>
            <a:ext cx="12252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Deploy Cloud Run + Final test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8930" y="3698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Solution Architecture</a:t>
            </a:r>
            <a:endParaRPr sz="1500" b="1" i="0">
              <a:solidFill>
                <a:srgbClr val="0D2B55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03834" y="4097020"/>
            <a:ext cx="1417320" cy="749808"/>
          </a:xfrm>
          <a:prstGeom prst="rect">
            <a:avLst/>
          </a:prstGeom>
          <a:solidFill>
            <a:srgbClr val="F0F5FA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3834" y="4151884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99"/>
                </a:solidFill>
              </a:rPr>
              <a:t>USGS
API</a:t>
            </a:r>
            <a:endParaRPr sz="1100" b="1" i="0">
              <a:solidFill>
                <a:srgbClr val="007A99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30298" y="431647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B82"/>
                </a:solidFill>
              </a:rPr>
              <a:t>→</a:t>
            </a:r>
            <a:endParaRPr sz="1400" b="1" i="0">
              <a:solidFill>
                <a:srgbClr val="556B82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267458" y="4097020"/>
            <a:ext cx="1417320" cy="749808"/>
          </a:xfrm>
          <a:prstGeom prst="rect">
            <a:avLst/>
          </a:prstGeom>
          <a:solidFill>
            <a:srgbClr val="F0F5FA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67458" y="4151884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99"/>
                </a:solidFill>
              </a:rPr>
              <a:t>Python
Scraper</a:t>
            </a:r>
            <a:endParaRPr sz="1100" b="1" i="0">
              <a:solidFill>
                <a:srgbClr val="007A99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93922" y="431647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B82"/>
                </a:solidFill>
              </a:rPr>
              <a:t>→</a:t>
            </a:r>
            <a:endParaRPr sz="1400" b="1" i="0">
              <a:solidFill>
                <a:srgbClr val="556B82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831082" y="4097020"/>
            <a:ext cx="1417320" cy="749808"/>
          </a:xfrm>
          <a:prstGeom prst="rect">
            <a:avLst/>
          </a:prstGeom>
          <a:solidFill>
            <a:srgbClr val="F0F5FA"/>
          </a:solidFill>
          <a:ln w="1905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31082" y="4151884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99"/>
                </a:solidFill>
              </a:rPr>
              <a:t>Pandas
Dataset</a:t>
            </a:r>
            <a:endParaRPr sz="1100" b="1" i="0">
              <a:solidFill>
                <a:srgbClr val="007A99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257546" y="431647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B82"/>
                </a:solidFill>
              </a:rPr>
              <a:t>→</a:t>
            </a:r>
            <a:endParaRPr sz="1400" b="1" i="0">
              <a:solidFill>
                <a:srgbClr val="556B82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394706" y="4097020"/>
            <a:ext cx="1417320" cy="749808"/>
          </a:xfrm>
          <a:prstGeom prst="rect">
            <a:avLst/>
          </a:prstGeom>
          <a:solidFill>
            <a:srgbClr val="F0F5FA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706" y="4151884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XGBoost
Model</a:t>
            </a:r>
            <a:endParaRPr sz="1100" b="1" i="0">
              <a:solidFill>
                <a:srgbClr val="0D2B55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21170" y="431647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B82"/>
                </a:solidFill>
              </a:rPr>
              <a:t>→</a:t>
            </a:r>
            <a:endParaRPr sz="1400" b="1" i="0">
              <a:solidFill>
                <a:srgbClr val="556B82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958330" y="4097020"/>
            <a:ext cx="1417320" cy="749808"/>
          </a:xfrm>
          <a:prstGeom prst="rect">
            <a:avLst/>
          </a:prstGeom>
          <a:solidFill>
            <a:srgbClr val="F0F5FA"/>
          </a:solidFill>
          <a:ln w="190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58330" y="4151884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10"/>
                </a:solidFill>
              </a:rPr>
              <a:t>Flask API
Cloud Run</a:t>
            </a:r>
            <a:endParaRPr sz="1100" b="1" i="0">
              <a:solidFill>
                <a:srgbClr val="E86A1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384794" y="431647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B82"/>
                </a:solidFill>
              </a:rPr>
              <a:t>→</a:t>
            </a:r>
            <a:endParaRPr sz="1400" b="1" i="0">
              <a:solidFill>
                <a:srgbClr val="556B82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8521954" y="4097020"/>
            <a:ext cx="1417320" cy="749808"/>
          </a:xfrm>
          <a:prstGeom prst="rect">
            <a:avLst/>
          </a:prstGeom>
          <a:solidFill>
            <a:srgbClr val="F0F5FA"/>
          </a:solidFill>
          <a:ln w="190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21954" y="4151884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10"/>
                </a:solidFill>
              </a:rPr>
              <a:t>Streamlit
Cloud Run</a:t>
            </a:r>
            <a:endParaRPr sz="1100" b="1" i="0">
              <a:solidFill>
                <a:srgbClr val="E86A1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948418" y="431647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B82"/>
                </a:solidFill>
              </a:rPr>
              <a:t>→</a:t>
            </a:r>
            <a:endParaRPr sz="1400" b="1" i="0">
              <a:solidFill>
                <a:srgbClr val="556B82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0085578" y="4097020"/>
            <a:ext cx="1417320" cy="749808"/>
          </a:xfrm>
          <a:prstGeom prst="rect">
            <a:avLst/>
          </a:prstGeom>
          <a:solidFill>
            <a:srgbClr val="F0F5FA"/>
          </a:solidFill>
          <a:ln w="19050">
            <a:solidFill>
              <a:srgbClr val="1A9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85578" y="4151884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9E5E"/>
                </a:solidFill>
              </a:rPr>
              <a:t>User:
Map+Predict</a:t>
            </a:r>
            <a:endParaRPr sz="1100" b="1" i="0">
              <a:solidFill>
                <a:srgbClr val="1A9E5E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28930" y="5075428"/>
            <a:ext cx="15087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8930" y="51211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Python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929130" y="5075428"/>
            <a:ext cx="15087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29130" y="51211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Streamlit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529330" y="5075428"/>
            <a:ext cx="15087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29330" y="51211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Flask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5129530" y="5075428"/>
            <a:ext cx="15087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29530" y="51211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XGBoost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729730" y="5075428"/>
            <a:ext cx="15087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29730" y="51211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Docker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8329930" y="5075428"/>
            <a:ext cx="15087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9930" y="51211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Google Cloud Run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28930" y="5075428"/>
            <a:ext cx="11521440" cy="1325880"/>
          </a:xfrm>
          <a:prstGeom prst="rect">
            <a:avLst/>
          </a:prstGeom>
          <a:solidFill>
            <a:srgbClr val="F0F5F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1810" y="51485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Potential Challenges &amp; Backup Plans</a:t>
            </a:r>
            <a:endParaRPr sz="1400" b="1" i="0">
              <a:solidFill>
                <a:srgbClr val="C0392B"/>
              </a:solidFill>
            </a:endParaRPr>
          </a:p>
        </p:txBody>
      </p:sp>
      <p:sp>
        <p:nvSpPr>
          <p:cNvPr id="76" name="Oval 75"/>
          <p:cNvSpPr/>
          <p:nvPr/>
        </p:nvSpPr>
        <p:spPr>
          <a:xfrm>
            <a:off x="511810" y="55966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2978" y="55143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Class imbalance</a:t>
            </a:r>
            <a:endParaRPr sz="1200" b="1" i="0">
              <a:solidFill>
                <a:srgbClr val="C0392B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496058" y="55143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B82"/>
                </a:solidFill>
              </a:rPr>
              <a:t>(High-hazard events are rare (&lt;1%))</a:t>
            </a:r>
            <a:endParaRPr sz="1100" b="0" i="1">
              <a:solidFill>
                <a:srgbClr val="556B82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403850" y="55143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Use class_weight='balanced' in XGBoost; try SMOTE oversampling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80" name="Oval 79"/>
          <p:cNvSpPr/>
          <p:nvPr/>
        </p:nvSpPr>
        <p:spPr>
          <a:xfrm>
            <a:off x="511810" y="5907532"/>
            <a:ext cx="109728" cy="109728"/>
          </a:xfrm>
          <a:prstGeom prst="ellipse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2978" y="58252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10"/>
                </a:solidFill>
              </a:rPr>
              <a:t>Model F1 below 85%</a:t>
            </a:r>
            <a:endParaRPr sz="1200" b="1" i="0">
              <a:solidFill>
                <a:srgbClr val="E86A10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496058" y="58252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B82"/>
                </a:solidFill>
              </a:rPr>
              <a:t>(Complex patterns may reduce accuracy)</a:t>
            </a:r>
            <a:endParaRPr sz="1100" b="0" i="1">
              <a:solidFill>
                <a:srgbClr val="556B82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403850" y="582523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Add Neural Network (MLP) as 4th model; tune hyperparameters with GridSearch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84" name="Oval 83"/>
          <p:cNvSpPr/>
          <p:nvPr/>
        </p:nvSpPr>
        <p:spPr>
          <a:xfrm>
            <a:off x="511810" y="6218428"/>
            <a:ext cx="109728" cy="109728"/>
          </a:xfrm>
          <a:prstGeom prst="ellipse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2978" y="61361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99"/>
                </a:solidFill>
              </a:rPr>
              <a:t>API downtime</a:t>
            </a:r>
            <a:endParaRPr sz="1200" b="1" i="0">
              <a:solidFill>
                <a:srgbClr val="007A99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496058" y="61361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B82"/>
                </a:solidFill>
              </a:rPr>
              <a:t>(USGS API may be temporarily unavailable)</a:t>
            </a:r>
            <a:endParaRPr sz="1100" b="0" i="1">
              <a:solidFill>
                <a:srgbClr val="556B82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403850" y="613613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Cache a local copy of 2,000 records as backup dataset</a:t>
            </a:r>
            <a:endParaRPr sz="1200" b="0" i="0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4546</Words>
  <Application>WPS 演示</Application>
  <PresentationFormat>On-screen Show (4:3)</PresentationFormat>
  <Paragraphs>322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biu biu</cp:lastModifiedBy>
  <cp:revision>4</cp:revision>
  <dcterms:created xsi:type="dcterms:W3CDTF">2026-05-05T07:37:51Z</dcterms:created>
  <dcterms:modified xsi:type="dcterms:W3CDTF">2026-05-05T07:37:51Z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D978F5834232829A7992F969511E1BBB_43</vt:lpwstr>
  </property>
  <property fmtid="{D5CDD505-2E9C-101B-9397-08002B2CF9AE}" pid="3" name="KSOProductBuildVer">
    <vt:lpwstr>2052-12.1.22553.22553</vt:lpwstr>
  </property>
</Properties>
</file>