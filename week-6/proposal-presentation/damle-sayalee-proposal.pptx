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4" r:id="rId5"/>
    <p:sldId id="260" r:id="rId6"/>
    <p:sldId id="262" r:id="rId7"/>
    <p:sldId id="263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6"/>
    <p:restoredTop sz="94610"/>
  </p:normalViewPr>
  <p:slideViewPr>
    <p:cSldViewPr snapToGrid="0" snapToObjects="1">
      <p:cViewPr>
        <p:scale>
          <a:sx n="85" d="100"/>
          <a:sy n="85" d="100"/>
        </p:scale>
        <p:origin x="14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Punctuated segments (%)</c:v>
                </c:pt>
              </c:strCache>
            </c:strRef>
          </c:tx>
          <c:spPr>
            <a:solidFill>
              <a:srgbClr val="0F766E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88-7F4B-8D88-A1C7A7562934}"/>
              </c:ext>
            </c:extLst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88-7F4B-8D88-A1C7A7562934}"/>
              </c:ext>
            </c:extLst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88-7F4B-8D88-A1C7A7562934}"/>
              </c:ext>
            </c:extLst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488-7F4B-8D88-A1C7A7562934}"/>
              </c:ext>
            </c:extLst>
          </c:dPt>
          <c:dPt>
            <c:idx val="4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488-7F4B-8D88-A1C7A7562934}"/>
              </c:ext>
            </c:extLst>
          </c:dPt>
          <c:dPt>
            <c:idx val="5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488-7F4B-8D88-A1C7A7562934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Healthy Eating</c:v>
                </c:pt>
                <c:pt idx="1">
                  <c:v>Brain Health</c:v>
                </c:pt>
                <c:pt idx="2">
                  <c:v>Foods &amp; Moods</c:v>
                </c:pt>
                <c:pt idx="3">
                  <c:v>Heart Disease</c:v>
                </c:pt>
                <c:pt idx="4">
                  <c:v>Longevity Diet</c:v>
                </c:pt>
                <c:pt idx="5">
                  <c:v>Supplementation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91.8</c:v>
                </c:pt>
                <c:pt idx="1">
                  <c:v>80.2</c:v>
                </c:pt>
                <c:pt idx="2">
                  <c:v>78.900000000000006</c:v>
                </c:pt>
                <c:pt idx="3">
                  <c:v>25.9</c:v>
                </c:pt>
                <c:pt idx="4">
                  <c:v>23</c:v>
                </c:pt>
                <c:pt idx="5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488-7F4B-8D88-A1C7A75629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Fact-checking health</a:t>
            </a:r>
            <a:endParaRPr lang="en-US" sz="6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on YouTube.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agent that distinguishes settled medical consensus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genuine scientific debate — with citations.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669280"/>
            <a:ext cx="5486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5486400" cy="77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·  May 2026</a:t>
            </a:r>
          </a:p>
          <a:p>
            <a:pPr marL="0" indent="0">
              <a:buNone/>
            </a:pPr>
            <a:r>
              <a:rPr lang="en-US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Sayalee Damle</a:t>
            </a:r>
          </a:p>
          <a:p>
            <a:pPr marL="0" indent="0">
              <a:buNone/>
            </a:pPr>
            <a:endParaRPr lang="en-US" dirty="0">
              <a:solidFill>
                <a:srgbClr val="9AA5B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dirty="0">
              <a:solidFill>
                <a:srgbClr val="9AA5B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02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AND DATA COLLECTION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project, and why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7520" y="165874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7520" y="235361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11% of the most-viewed YouTube videos on COVID-19 vaccines contradicted WHO/CDC </a:t>
            </a:r>
            <a:r>
              <a:rPr lang="en-US" sz="1600" dirty="0">
                <a:solidFill>
                  <a:srgbClr val="3E4C59"/>
                </a:solidFill>
                <a:latin typeface="Calibri" pitchFamily="34" charset="0"/>
                <a:cs typeface="Calibri" pitchFamily="34" charset="-120"/>
              </a:rPr>
              <a:t>guidance.</a:t>
            </a:r>
          </a:p>
        </p:txBody>
      </p:sp>
      <p:sp>
        <p:nvSpPr>
          <p:cNvPr id="10" name="Text 8"/>
          <p:cNvSpPr/>
          <p:nvPr/>
        </p:nvSpPr>
        <p:spPr>
          <a:xfrm>
            <a:off x="477520" y="3105233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al., BMJ Open, 2022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0" cy="420624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520" y="35303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1800" y="383846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agent, not a classifier.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1800" y="4385978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like "seed oils cause inflammation" cannot be answered by a label. 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done by retrieving evidence, weighing study quality, and recognizing when scientists genuinely disagree.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  ·  Project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75554" y="6446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49F992-330E-7DBA-B789-17907A193028}"/>
              </a:ext>
            </a:extLst>
          </p:cNvPr>
          <p:cNvSpPr txBox="1"/>
          <p:nvPr/>
        </p:nvSpPr>
        <p:spPr>
          <a:xfrm>
            <a:off x="396940" y="1935582"/>
            <a:ext cx="46036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E4C59"/>
                </a:solidFill>
                <a:latin typeface="Calibri" pitchFamily="34" charset="0"/>
                <a:cs typeface="Calibri" pitchFamily="34" charset="-120"/>
              </a:rPr>
              <a:t>Claims made by YouTube videos might be misleading.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DC158909-062F-088F-B3C9-6D72C51A72D3}"/>
              </a:ext>
            </a:extLst>
          </p:cNvPr>
          <p:cNvSpPr/>
          <p:nvPr/>
        </p:nvSpPr>
        <p:spPr>
          <a:xfrm>
            <a:off x="6291457" y="165874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SOURCES</a:t>
            </a:r>
            <a:endParaRPr lang="en-US" sz="16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EC2FCA88-64AB-0477-8F9C-9FEBA26F26CC}"/>
              </a:ext>
            </a:extLst>
          </p:cNvPr>
          <p:cNvSpPr/>
          <p:nvPr/>
        </p:nvSpPr>
        <p:spPr>
          <a:xfrm>
            <a:off x="6316940" y="3379553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Queried live, per video</a:t>
            </a:r>
            <a:endParaRPr lang="en-US" sz="1800" dirty="0"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2E312C1A-07D6-4518-9671-27FA9ED6B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198" y="3916763"/>
            <a:ext cx="292608" cy="292608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36C186E0-A49B-4141-8F03-508DB3EB07B1}"/>
              </a:ext>
            </a:extLst>
          </p:cNvPr>
          <p:cNvSpPr/>
          <p:nvPr/>
        </p:nvSpPr>
        <p:spPr>
          <a:xfrm>
            <a:off x="6938282" y="379549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A44391B-5E71-DF21-D70A-FC8AD1111DE5}"/>
              </a:ext>
            </a:extLst>
          </p:cNvPr>
          <p:cNvSpPr/>
          <p:nvPr/>
        </p:nvSpPr>
        <p:spPr>
          <a:xfrm>
            <a:off x="6938282" y="4088101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studies, via E-utilities API</a:t>
            </a:r>
            <a:endParaRPr lang="en-US" sz="1400" dirty="0"/>
          </a:p>
        </p:txBody>
      </p:sp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23A8E582-E29C-F3C0-EA2B-BCA66D99A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198" y="4691155"/>
            <a:ext cx="292608" cy="292608"/>
          </a:xfrm>
          <a:prstGeom prst="rect">
            <a:avLst/>
          </a:prstGeom>
        </p:spPr>
      </p:pic>
      <p:sp>
        <p:nvSpPr>
          <p:cNvPr id="39" name="Text 10">
            <a:extLst>
              <a:ext uri="{FF2B5EF4-FFF2-40B4-BE49-F238E27FC236}">
                <a16:creationId xmlns:a16="http://schemas.microsoft.com/office/drawing/2014/main" id="{6ED03722-2C4C-9DE0-9A97-69B29DF9AA8C}"/>
              </a:ext>
            </a:extLst>
          </p:cNvPr>
          <p:cNvSpPr/>
          <p:nvPr/>
        </p:nvSpPr>
        <p:spPr>
          <a:xfrm>
            <a:off x="6938282" y="457273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 (through PubMed)</a:t>
            </a:r>
            <a:endParaRPr lang="en-US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44F0090B-19BD-14F8-89A2-158115CA834D}"/>
              </a:ext>
            </a:extLst>
          </p:cNvPr>
          <p:cNvSpPr/>
          <p:nvPr/>
        </p:nvSpPr>
        <p:spPr>
          <a:xfrm>
            <a:off x="6938282" y="4865341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reviews and meta-analyses</a:t>
            </a:r>
            <a:endParaRPr lang="en-US" sz="1400" dirty="0"/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CAB15D99-99F0-10CA-B13C-1ECBF32EF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802" y="5477090"/>
            <a:ext cx="292608" cy="292608"/>
          </a:xfrm>
          <a:prstGeom prst="rect">
            <a:avLst/>
          </a:prstGeom>
        </p:spPr>
      </p:pic>
      <p:sp>
        <p:nvSpPr>
          <p:cNvPr id="42" name="Text 12">
            <a:extLst>
              <a:ext uri="{FF2B5EF4-FFF2-40B4-BE49-F238E27FC236}">
                <a16:creationId xmlns:a16="http://schemas.microsoft.com/office/drawing/2014/main" id="{AFC3628D-13CC-5C50-5930-6536BA66A352}"/>
              </a:ext>
            </a:extLst>
          </p:cNvPr>
          <p:cNvSpPr/>
          <p:nvPr/>
        </p:nvSpPr>
        <p:spPr>
          <a:xfrm>
            <a:off x="6938282" y="534997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/ WHO / NIH</a:t>
            </a:r>
            <a:endParaRPr lang="en-US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E98CD64F-EC12-064C-B8B3-4293A7E21AC0}"/>
              </a:ext>
            </a:extLst>
          </p:cNvPr>
          <p:cNvSpPr/>
          <p:nvPr/>
        </p:nvSpPr>
        <p:spPr>
          <a:xfrm>
            <a:off x="6938282" y="562429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guidance and consensus statements</a:t>
            </a:r>
            <a:endParaRPr lang="en-US" sz="14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85A66C03-DB50-BA88-8609-27F108959B0D}"/>
              </a:ext>
            </a:extLst>
          </p:cNvPr>
          <p:cNvSpPr/>
          <p:nvPr/>
        </p:nvSpPr>
        <p:spPr>
          <a:xfrm>
            <a:off x="6291457" y="2021674"/>
            <a:ext cx="5768292" cy="141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 transcripts for </a:t>
            </a:r>
            <a:r>
              <a:rPr lang="en-US" sz="1400" i="1" dirty="0" err="1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</a:t>
            </a:r>
            <a:r>
              <a:rPr lang="en-US" sz="14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</a:t>
            </a:r>
            <a:r>
              <a:rPr lang="en-US" sz="14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queries authoritative sources at inference, there is no training corpus (1 video at a time).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provides reasoning; the sources provide ground truth.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02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 real video look like?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24813"/>
            <a:ext cx="11064240" cy="41148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13232" y="1924813"/>
            <a:ext cx="5138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CLAIM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16752" y="1924813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11312" y="1924813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6373"/>
            <a:ext cx="11064240" cy="0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13232" y="2336293"/>
            <a:ext cx="5138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"Vitamin C deficiency causes scurvy."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16752" y="2537461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016752" y="2537461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supported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11312" y="2336293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Universally agreed across centuries of evidence.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976373"/>
            <a:ext cx="11064240" cy="64008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548640" y="3616453"/>
            <a:ext cx="11064240" cy="0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13232" y="2976373"/>
            <a:ext cx="5138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"Seed oils cause inflammation."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16752" y="3177541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016752" y="3177541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1312" y="2976373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disagreement in current peer-reviewed literature.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256533"/>
            <a:ext cx="11064240" cy="0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13232" y="3616453"/>
            <a:ext cx="5138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feel better when I avoid gluten."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16752" y="3817621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016752" y="3817621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3616453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anecdote, not a falsifiable claim.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256533"/>
            <a:ext cx="11064240" cy="64008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548640" y="4896613"/>
            <a:ext cx="11064240" cy="0"/>
          </a:xfrm>
          <a:prstGeom prst="line">
            <a:avLst/>
          </a:prstGeom>
          <a:noFill/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713232" y="4256533"/>
            <a:ext cx="5138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"Vaccines cause autism."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16752" y="4457701"/>
            <a:ext cx="1865376" cy="384048"/>
          </a:xfrm>
          <a:prstGeom prst="roundRect">
            <a:avLst>
              <a:gd name="adj" fmla="val 14286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6016752" y="4457701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contradicted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1312" y="4256533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Conclusively refuted by large-scale studies.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5079493"/>
            <a:ext cx="54864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777240" y="5079493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extractor's hardest job is filtering, not extracting.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  ·  Project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02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pilot transcripts: clean, on-topic, but uneven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pass over six videos from two channels (Huberman Lab, Nutrition Made Simple). The corpus is well within model context limits and densely on-topic — the only real signal of trouble is caption punctuation, which falls off sharply for auto-generated transcripts.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023360" cy="91440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864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331720" y="2724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ON-TOPIC AND LOW-NOISE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953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transcripts pass the 1% health-keyword density and &lt;5% noise thresholds.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023360" cy="91440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≤22%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331720" y="37764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128 K CONTEXT WINDOW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40050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video (Rational Approach to Supplementation) uses ~29 k tokens. No chunking required.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4023360" cy="914400"/>
          </a:xfrm>
          <a:prstGeom prst="rect">
            <a:avLst/>
          </a:prstGeom>
          <a:solidFill>
            <a:srgbClr val="FDF1E0"/>
          </a:solidFill>
          <a:ln w="12700">
            <a:solidFill>
              <a:srgbClr val="FDF1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54864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331720" y="48280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PUNCTUATED CAPTIONS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31720" y="5056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tracks fall to 15–26% punctuated segments. Restoration step needed pre-extraction.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6060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RATE BY VIDEO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8803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captions vs. auto-generated</a:t>
            </a:r>
            <a:endParaRPr lang="en-US" sz="18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937760" y="3383280"/>
          <a:ext cx="6675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7662672" y="3520440"/>
            <a:ext cx="0" cy="233172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251192" y="33101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37760" y="612648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LLM-readable threshold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  ·  Project review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7B8794"/>
                </a:solidFill>
                <a:latin typeface="Calibri" pitchFamily="34" charset="0"/>
                <a:cs typeface="Calibri" pitchFamily="34" charset="-120"/>
              </a:rPr>
              <a:t>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02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multi-stage agent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each a focused LLM call or a fan-out across sources.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schemas form the contract between.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" y="2743200"/>
            <a:ext cx="1965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5780" y="2743200"/>
            <a:ext cx="19659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8660" y="2944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24612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866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8660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youtube-transcript-api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37460" y="3630168"/>
            <a:ext cx="228600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811780" y="2743200"/>
            <a:ext cx="1965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811780" y="2743200"/>
            <a:ext cx="19659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994660" y="2944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660" y="32461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9466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23460" y="3630168"/>
            <a:ext cx="228600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097780" y="2743200"/>
            <a:ext cx="1965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097780" y="2743200"/>
            <a:ext cx="19659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280660" y="2944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32461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8066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7109460" y="3630168"/>
            <a:ext cx="228600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383780" y="2743200"/>
            <a:ext cx="1965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7383780" y="2743200"/>
            <a:ext cx="19659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7566660" y="2944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324612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6666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eval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9395460" y="3630168"/>
            <a:ext cx="228600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9669780" y="2743200"/>
            <a:ext cx="1965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9669780" y="2743200"/>
            <a:ext cx="19659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852660" y="29443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2660" y="3246120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852660" y="3703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9852660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Markdown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  ·  Project review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400800" y="64622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B05C0487-0F11-C321-0295-0EA7E9D918E7}"/>
              </a:ext>
            </a:extLst>
          </p:cNvPr>
          <p:cNvSpPr/>
          <p:nvPr/>
        </p:nvSpPr>
        <p:spPr>
          <a:xfrm>
            <a:off x="548640" y="4752308"/>
            <a:ext cx="3753537" cy="13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600" dirty="0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6229552F-55A2-B416-CB6E-EF011C7AEF5C}"/>
              </a:ext>
            </a:extLst>
          </p:cNvPr>
          <p:cNvSpPr/>
          <p:nvPr/>
        </p:nvSpPr>
        <p:spPr>
          <a:xfrm>
            <a:off x="548641" y="5237747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7A678244-7E63-F829-6E70-DDCBD110A55C}"/>
              </a:ext>
            </a:extLst>
          </p:cNvPr>
          <p:cNvSpPr/>
          <p:nvPr/>
        </p:nvSpPr>
        <p:spPr>
          <a:xfrm>
            <a:off x="548641" y="52377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2C21C450-6F8D-770B-1F7E-6A24C0DDBB89}"/>
              </a:ext>
            </a:extLst>
          </p:cNvPr>
          <p:cNvSpPr/>
          <p:nvPr/>
        </p:nvSpPr>
        <p:spPr>
          <a:xfrm>
            <a:off x="914401" y="5251973"/>
            <a:ext cx="2627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 throughout</a:t>
            </a:r>
            <a:endParaRPr lang="en-US" sz="1400" dirty="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8D7B1F10-1128-032D-CF21-1B838DF21D50}"/>
              </a:ext>
            </a:extLst>
          </p:cNvPr>
          <p:cNvSpPr/>
          <p:nvPr/>
        </p:nvSpPr>
        <p:spPr>
          <a:xfrm>
            <a:off x="566929" y="5797354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7D601E03-27D8-0912-3437-BDE056595EBB}"/>
              </a:ext>
            </a:extLst>
          </p:cNvPr>
          <p:cNvSpPr/>
          <p:nvPr/>
        </p:nvSpPr>
        <p:spPr>
          <a:xfrm>
            <a:off x="566929" y="57973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5EA64867-49AF-AC01-D586-F557727A9ABF}"/>
              </a:ext>
            </a:extLst>
          </p:cNvPr>
          <p:cNvSpPr/>
          <p:nvPr/>
        </p:nvSpPr>
        <p:spPr>
          <a:xfrm>
            <a:off x="932688" y="5824786"/>
            <a:ext cx="3972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LLM: Gemini-first, model-agnostic prompts.</a:t>
            </a:r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D5E178DD-4B2F-C806-CDC0-740EEDC3E6D4}"/>
              </a:ext>
            </a:extLst>
          </p:cNvPr>
          <p:cNvSpPr/>
          <p:nvPr/>
        </p:nvSpPr>
        <p:spPr>
          <a:xfrm>
            <a:off x="6096000" y="5848785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520D71C1-2037-FE2D-AF9F-90C6DECC7409}"/>
              </a:ext>
            </a:extLst>
          </p:cNvPr>
          <p:cNvSpPr/>
          <p:nvPr/>
        </p:nvSpPr>
        <p:spPr>
          <a:xfrm>
            <a:off x="6096000" y="58487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A6B696BC-A4B7-FC77-6913-63514C44D0CC}"/>
              </a:ext>
            </a:extLst>
          </p:cNvPr>
          <p:cNvSpPr/>
          <p:nvPr/>
        </p:nvSpPr>
        <p:spPr>
          <a:xfrm>
            <a:off x="6461760" y="5803065"/>
            <a:ext cx="273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55C37D12-8E86-CECA-A437-7E00E9B83053}"/>
              </a:ext>
            </a:extLst>
          </p:cNvPr>
          <p:cNvSpPr/>
          <p:nvPr/>
        </p:nvSpPr>
        <p:spPr>
          <a:xfrm>
            <a:off x="6096000" y="5251973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8A0DEAF6-076C-5217-5315-DEE8A5878920}"/>
              </a:ext>
            </a:extLst>
          </p:cNvPr>
          <p:cNvSpPr/>
          <p:nvPr/>
        </p:nvSpPr>
        <p:spPr>
          <a:xfrm>
            <a:off x="6096000" y="52519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B4C63C-7892-F884-7D92-CA81FFC13084}"/>
              </a:ext>
            </a:extLst>
          </p:cNvPr>
          <p:cNvSpPr txBox="1"/>
          <p:nvPr/>
        </p:nvSpPr>
        <p:spPr>
          <a:xfrm>
            <a:off x="6461759" y="5253239"/>
            <a:ext cx="248137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sz="1400" b="1">
                <a:solidFill>
                  <a:srgbClr val="1F2933"/>
                </a:solidFill>
                <a:latin typeface="Calibri" pitchFamily="34" charset="0"/>
                <a:cs typeface="Calibri" pitchFamily="34" charset="-120"/>
              </a:defRPr>
            </a:lvl1pPr>
          </a:lstStyle>
          <a:p>
            <a:r>
              <a:rPr lang="en-US" dirty="0"/>
              <a:t>CI/CD: Git + GitHub Actions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0B4EDD-7D4F-CFF0-C506-2D662AE92F73}"/>
              </a:ext>
            </a:extLst>
          </p:cNvPr>
          <p:cNvSpPr txBox="1"/>
          <p:nvPr/>
        </p:nvSpPr>
        <p:spPr>
          <a:xfrm>
            <a:off x="6461759" y="5873926"/>
            <a:ext cx="2828844" cy="31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sz="1400" b="1">
                <a:solidFill>
                  <a:srgbClr val="1F2933"/>
                </a:solidFill>
                <a:latin typeface="Calibri" pitchFamily="34" charset="0"/>
                <a:cs typeface="Calibri" pitchFamily="34" charset="-120"/>
              </a:defRPr>
            </a:lvl1pPr>
          </a:lstStyle>
          <a:p>
            <a:r>
              <a:rPr lang="en-US" dirty="0"/>
              <a:t>Deployment: managed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02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Milestones, status, and what could go wrong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47800"/>
            <a:ext cx="11064240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292096"/>
            <a:ext cx="10698480" cy="0"/>
          </a:xfrm>
          <a:prstGeom prst="line">
            <a:avLst/>
          </a:prstGeom>
          <a:noFill/>
          <a:ln w="190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362456" y="2139696"/>
            <a:ext cx="292608" cy="292608"/>
          </a:xfrm>
          <a:prstGeom prst="ellipse">
            <a:avLst/>
          </a:prstGeom>
          <a:solidFill>
            <a:srgbClr val="0F766E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362456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68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transcript, fixtures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07208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432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· Cochrane · CDC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34456" y="213969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5029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→ retriever → eval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0456" y="213969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315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152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15-video 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06456" y="213969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9601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6012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formatter, demo video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657600"/>
            <a:ext cx="201168" cy="201168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882971" y="3639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365760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Shape 31"/>
          <p:cNvSpPr/>
          <p:nvPr/>
        </p:nvSpPr>
        <p:spPr>
          <a:xfrm>
            <a:off x="1984248" y="372160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2194560" y="3639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65760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3566160" y="3639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2976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OPEN QUESTIONS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286000" y="4590288"/>
            <a:ext cx="3611880" cy="155448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286000" y="4617720"/>
            <a:ext cx="54864" cy="1554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14600" y="4754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514600" y="50749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dataset of labeled health claims at scale. Manual evaluation is the bottleneck.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35040" y="4617720"/>
            <a:ext cx="3611880" cy="155448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35040" y="4617720"/>
            <a:ext cx="54864" cy="1554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63640" y="4754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63640" y="50749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Tempting to expand to general fact-checking. Resisting it is a design discipline, not a feature gap.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  ·  Project review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57" name="Shape 11">
            <a:extLst>
              <a:ext uri="{FF2B5EF4-FFF2-40B4-BE49-F238E27FC236}">
                <a16:creationId xmlns:a16="http://schemas.microsoft.com/office/drawing/2014/main" id="{8A24FC1B-0939-9C87-C6A9-42BA228F6F1B}"/>
              </a:ext>
            </a:extLst>
          </p:cNvPr>
          <p:cNvSpPr/>
          <p:nvPr/>
        </p:nvSpPr>
        <p:spPr>
          <a:xfrm>
            <a:off x="5961888" y="213969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C95F3B83-D202-E0D4-0511-63CA4D9EB235}"/>
              </a:ext>
            </a:extLst>
          </p:cNvPr>
          <p:cNvSpPr/>
          <p:nvPr/>
        </p:nvSpPr>
        <p:spPr>
          <a:xfrm>
            <a:off x="6044184" y="222539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17527BD0-3884-0682-DD21-37BE05122EAA}"/>
              </a:ext>
            </a:extLst>
          </p:cNvPr>
          <p:cNvSpPr/>
          <p:nvPr/>
        </p:nvSpPr>
        <p:spPr>
          <a:xfrm>
            <a:off x="3703320" y="2124457"/>
            <a:ext cx="292608" cy="292608"/>
          </a:xfrm>
          <a:prstGeom prst="ellipse">
            <a:avLst/>
          </a:prstGeom>
          <a:solidFill>
            <a:srgbClr val="0F766E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58B393B2-F492-C254-1CD6-0CE2DFC8283D}"/>
              </a:ext>
            </a:extLst>
          </p:cNvPr>
          <p:cNvSpPr/>
          <p:nvPr/>
        </p:nvSpPr>
        <p:spPr>
          <a:xfrm>
            <a:off x="3703320" y="212445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54864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all welcome.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78992" y="502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notes for engineers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751417"/>
            <a:ext cx="3753537" cy="13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17346"/>
            <a:ext cx="2627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 throughout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662727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6627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7" y="2690159"/>
            <a:ext cx="3972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cs typeface="Calibri" pitchFamily="34" charset="-120"/>
              </a:rPr>
              <a:t>LLM: Gemini-first, model-agnostic prompts.</a:t>
            </a:r>
          </a:p>
        </p:txBody>
      </p:sp>
      <p:sp>
        <p:nvSpPr>
          <p:cNvPr id="16" name="Shape 14"/>
          <p:cNvSpPr/>
          <p:nvPr/>
        </p:nvSpPr>
        <p:spPr>
          <a:xfrm>
            <a:off x="566928" y="3897167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8971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851447"/>
            <a:ext cx="27374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TruthCheck  ·  Project review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8CF14E37-3F67-8CC7-E230-F1D5F41D4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1803" y="1261872"/>
            <a:ext cx="7625797" cy="6055780"/>
          </a:xfrm>
          <a:prstGeom prst="rect">
            <a:avLst/>
          </a:prstGeom>
        </p:spPr>
      </p:pic>
      <p:sp>
        <p:nvSpPr>
          <p:cNvPr id="48" name="Shape 10">
            <a:extLst>
              <a:ext uri="{FF2B5EF4-FFF2-40B4-BE49-F238E27FC236}">
                <a16:creationId xmlns:a16="http://schemas.microsoft.com/office/drawing/2014/main" id="{34662E8B-1D53-C4B4-9A30-5E521789492D}"/>
              </a:ext>
            </a:extLst>
          </p:cNvPr>
          <p:cNvSpPr/>
          <p:nvPr/>
        </p:nvSpPr>
        <p:spPr>
          <a:xfrm>
            <a:off x="566928" y="3300355"/>
            <a:ext cx="274320" cy="274320"/>
          </a:xfrm>
          <a:prstGeom prst="ellipse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87FC700E-91D1-BC03-8D99-D6DBD5D70761}"/>
              </a:ext>
            </a:extLst>
          </p:cNvPr>
          <p:cNvSpPr/>
          <p:nvPr/>
        </p:nvSpPr>
        <p:spPr>
          <a:xfrm>
            <a:off x="566928" y="33003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B7E870-17BF-51D3-B4C6-BA2C0B2B628A}"/>
              </a:ext>
            </a:extLst>
          </p:cNvPr>
          <p:cNvSpPr txBox="1"/>
          <p:nvPr/>
        </p:nvSpPr>
        <p:spPr>
          <a:xfrm>
            <a:off x="932687" y="3301621"/>
            <a:ext cx="248137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sz="1400" b="1">
                <a:solidFill>
                  <a:srgbClr val="1F2933"/>
                </a:solidFill>
                <a:latin typeface="Calibri" pitchFamily="34" charset="0"/>
                <a:cs typeface="Calibri" pitchFamily="34" charset="-120"/>
              </a:defRPr>
            </a:lvl1pPr>
          </a:lstStyle>
          <a:p>
            <a:r>
              <a:rPr lang="en-US" dirty="0"/>
              <a:t>CI/CD: Git + GitHub Actions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7393C3-9865-B870-5F6A-2FFC50022AE8}"/>
              </a:ext>
            </a:extLst>
          </p:cNvPr>
          <p:cNvSpPr txBox="1"/>
          <p:nvPr/>
        </p:nvSpPr>
        <p:spPr>
          <a:xfrm>
            <a:off x="932687" y="3922308"/>
            <a:ext cx="2828844" cy="31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sz="1400" b="1">
                <a:solidFill>
                  <a:srgbClr val="1F2933"/>
                </a:solidFill>
                <a:latin typeface="Calibri" pitchFamily="34" charset="0"/>
                <a:cs typeface="Calibri" pitchFamily="34" charset="-120"/>
              </a:defRPr>
            </a:lvl1pPr>
          </a:lstStyle>
          <a:p>
            <a:r>
              <a:rPr lang="en-US" dirty="0"/>
              <a:t>Deployment: managed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4335</TotalTime>
  <Words>689</Words>
  <Application>Microsoft Macintosh PowerPoint</Application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TruthCheck</dc:title>
  <dc:subject>PptxGenJS Presentation</dc:subject>
  <dc:creator>TruthCheck</dc:creator>
  <cp:lastModifiedBy>sayalee damle</cp:lastModifiedBy>
  <cp:revision>2</cp:revision>
  <dcterms:created xsi:type="dcterms:W3CDTF">2026-05-02T23:36:28Z</dcterms:created>
  <dcterms:modified xsi:type="dcterms:W3CDTF">2026-05-06T00:06:04Z</dcterms:modified>
</cp:coreProperties>
</file>