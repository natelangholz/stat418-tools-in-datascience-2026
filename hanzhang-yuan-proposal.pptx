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8778240" y="-731520"/>
            <a:ext cx="4572000" cy="4572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46304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4A8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 418 PROJECT PROPOSAL  •  MAY 2026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731520" y="1874520"/>
            <a:ext cx="640080" cy="73152"/>
          </a:xfrm>
          <a:prstGeom prst="rect">
            <a:avLst/>
          </a:prstGeom>
          <a:solidFill>
            <a:srgbClr val="E76F1E"/>
          </a:solidFill>
        </p:spPr>
      </p:sp>
      <p:sp>
        <p:nvSpPr>
          <p:cNvPr id="5" name="Text 2"/>
          <p:cNvSpPr/>
          <p:nvPr/>
        </p:nvSpPr>
        <p:spPr>
          <a:xfrm>
            <a:off x="731520" y="2057400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Predicting NBA Playoff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731520" y="2880360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E76F1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Underperformance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731520" y="38404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9D4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Regular-Season Statistics to Postseason Risk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31520" y="4846320"/>
            <a:ext cx="36576" cy="1188720"/>
          </a:xfrm>
          <a:prstGeom prst="rect">
            <a:avLst/>
          </a:prstGeom>
          <a:solidFill>
            <a:srgbClr val="E76F1E"/>
          </a:solidFill>
        </p:spPr>
      </p:sp>
      <p:sp>
        <p:nvSpPr>
          <p:cNvPr id="9" name="Text 6"/>
          <p:cNvSpPr/>
          <p:nvPr/>
        </p:nvSpPr>
        <p:spPr>
          <a:xfrm>
            <a:off x="914400" y="4846320"/>
            <a:ext cx="54864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4A8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PRESENTED BY</a:t>
            </a:r>
            <a:endParaRPr lang="en-US" sz="10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Hanzhang Yuan</a:t>
            </a:r>
            <a:endParaRPr lang="en-US" sz="10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b="1" kern="0" spc="400" dirty="0">
                <a:solidFill>
                  <a:srgbClr val="F4A8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DATE</a:t>
            </a:r>
            <a:endParaRPr lang="en-US" sz="1000" dirty="0"/>
          </a:p>
          <a:p>
            <a:pPr marL="0" indent="0">
              <a:buNone/>
            </a:pPr>
            <a:r>
              <a:rPr lang="en-US" sz="1400" dirty="0">
                <a:solidFill>
                  <a:srgbClr val="C9D4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May 5, 2026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58000" y="612648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4A8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Sports Analytics  ×  Machine Learning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</p:spPr>
      </p:sp>
      <p:sp>
        <p:nvSpPr>
          <p:cNvPr id="3" name="Shape 1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76F1E"/>
          </a:solidFill>
        </p:spPr>
      </p:sp>
      <p:sp>
        <p:nvSpPr>
          <p:cNvPr id="4" name="Shape 2"/>
          <p:cNvSpPr/>
          <p:nvPr/>
        </p:nvSpPr>
        <p:spPr>
          <a:xfrm>
            <a:off x="548640" y="365760"/>
            <a:ext cx="457200" cy="457200"/>
          </a:xfrm>
          <a:prstGeom prst="ellipse">
            <a:avLst/>
          </a:prstGeom>
          <a:solidFill>
            <a:srgbClr val="E76F1E"/>
          </a:solidFill>
        </p:spPr>
      </p:sp>
      <p:sp>
        <p:nvSpPr>
          <p:cNvPr id="5" name="Text 3"/>
          <p:cNvSpPr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3474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4A8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OVERVIEW  •  MOTIVATION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43000" y="56692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Why Some Stars Fade in the Playoffs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653796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Predicting NBA Playoff Underperformance from Regular-Season Statistics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72800" y="653796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/ 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508760"/>
            <a:ext cx="54864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508760"/>
            <a:ext cx="91440" cy="4754880"/>
          </a:xfrm>
          <a:prstGeom prst="rect">
            <a:avLst/>
          </a:prstGeom>
          <a:solidFill>
            <a:srgbClr val="E76F1E"/>
          </a:solidFill>
        </p:spPr>
      </p:sp>
      <p:sp>
        <p:nvSpPr>
          <p:cNvPr id="12" name="Shape 10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rgbClr val="0B1F3A"/>
          </a:solidFill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892808"/>
            <a:ext cx="420624" cy="42062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645920" y="182880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76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 QUESTION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14400" y="2606040"/>
            <a:ext cx="4754880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Can historical regular-season statistics predict which NBA players are likely to underperform in the playoffs relative to their regular-season level?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914400" y="4800600"/>
            <a:ext cx="4754880" cy="0"/>
          </a:xfrm>
          <a:prstGeom prst="line">
            <a:avLst/>
          </a:prstGeom>
          <a:noFill/>
          <a:ln w="12700">
            <a:solidFill>
              <a:srgbClr val="E5E0D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493776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76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APPROACH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14400" y="5212080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Frame the problem as supervised classification: each player-season is labeled as a playoff decline or not, learned only from regular-season inputs.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00800" y="150876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76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00800" y="1783080"/>
            <a:ext cx="5212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The playoffs are a different game.</a:t>
            </a:r>
            <a:endParaRPr lang="en-US" sz="2400" dirty="0"/>
          </a:p>
        </p:txBody>
      </p:sp>
      <p:sp>
        <p:nvSpPr>
          <p:cNvPr id="21" name="Shape 18"/>
          <p:cNvSpPr/>
          <p:nvPr/>
        </p:nvSpPr>
        <p:spPr>
          <a:xfrm>
            <a:off x="6400800" y="2606040"/>
            <a:ext cx="640080" cy="640080"/>
          </a:xfrm>
          <a:prstGeom prst="ellipse">
            <a:avLst/>
          </a:prstGeom>
          <a:solidFill>
            <a:srgbClr val="0B1F3A"/>
          </a:solidFill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743200"/>
            <a:ext cx="365760" cy="36576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269480" y="2560320"/>
            <a:ext cx="4343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Tighter Defenses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7269480" y="2944368"/>
            <a:ext cx="43434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Defensive intensity rises and rotations shorten — volume scorers face sharper pressure.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6400800" y="3858768"/>
            <a:ext cx="640080" cy="640080"/>
          </a:xfrm>
          <a:prstGeom prst="ellipse">
            <a:avLst/>
          </a:prstGeom>
          <a:solidFill>
            <a:srgbClr val="0B1F3A"/>
          </a:solidFill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3995928"/>
            <a:ext cx="365760" cy="36576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269480" y="3813048"/>
            <a:ext cx="4343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Targeted Adjustments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7269480" y="4197096"/>
            <a:ext cx="43434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Playoff series allow teams to scout and counter individual offensive tendencies.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6400800" y="5111496"/>
            <a:ext cx="640080" cy="640080"/>
          </a:xfrm>
          <a:prstGeom prst="ellipse">
            <a:avLst/>
          </a:prstGeom>
          <a:solidFill>
            <a:srgbClr val="0B1F3A"/>
          </a:solidFill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5248656"/>
            <a:ext cx="365760" cy="36576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269480" y="5065776"/>
            <a:ext cx="4343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Decision Value</a:t>
            </a:r>
            <a:endParaRPr lang="en-US" sz="1600" dirty="0"/>
          </a:p>
        </p:txBody>
      </p:sp>
      <p:sp>
        <p:nvSpPr>
          <p:cNvPr id="32" name="Text 26"/>
          <p:cNvSpPr/>
          <p:nvPr/>
        </p:nvSpPr>
        <p:spPr>
          <a:xfrm>
            <a:off x="7269480" y="5449824"/>
            <a:ext cx="43434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Drop-off risk matters to fans, analysts, and front offices when regular-season numbers may overstate reliability.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</p:spPr>
      </p:sp>
      <p:sp>
        <p:nvSpPr>
          <p:cNvPr id="3" name="Shape 1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76F1E"/>
          </a:solidFill>
        </p:spPr>
      </p:sp>
      <p:sp>
        <p:nvSpPr>
          <p:cNvPr id="4" name="Shape 2"/>
          <p:cNvSpPr/>
          <p:nvPr/>
        </p:nvSpPr>
        <p:spPr>
          <a:xfrm>
            <a:off x="548640" y="365760"/>
            <a:ext cx="457200" cy="457200"/>
          </a:xfrm>
          <a:prstGeom prst="ellipse">
            <a:avLst/>
          </a:prstGeom>
          <a:solidFill>
            <a:srgbClr val="E76F1E"/>
          </a:solidFill>
        </p:spPr>
      </p:sp>
      <p:sp>
        <p:nvSpPr>
          <p:cNvPr id="5" name="Text 3"/>
          <p:cNvSpPr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3474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4A8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COLLECTION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43000" y="56692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Building the Player-Season Dataset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653796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Predicting NBA Playoff Underperformance from Regular-Season Statistics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72800" y="653796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/ 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50876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76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SOURCE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1920240"/>
            <a:ext cx="5120640" cy="2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1920240"/>
            <a:ext cx="73152" cy="2400000"/>
          </a:xfrm>
          <a:prstGeom prst="rect">
            <a:avLst/>
          </a:prstGeom>
          <a:solidFill>
            <a:srgbClr val="E76F1E"/>
          </a:solidFill>
        </p:spPr>
      </p:sp>
      <p:sp>
        <p:nvSpPr>
          <p:cNvPr id="14" name="Text 12"/>
          <p:cNvSpPr/>
          <p:nvPr/>
        </p:nvSpPr>
        <p:spPr>
          <a:xfrm>
            <a:off x="777240" y="2057400"/>
            <a:ext cx="4754880" cy="43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NBA Stats / nba_api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77240" y="2620000"/>
            <a:ext cx="4754880" cy="16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Player game logs for regular-season and playoff games, pulled directly via the official NBA Stats API.</a:t>
            </a:r>
            <a:endParaRPr lang="en-US" sz="1300" dirty="0">
              <a:solidFill>
                <a:srgbClr val="47556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050" b="1" dirty="0">
                <a:solidFill>
                  <a:srgbClr val="E76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BOX-SCORE VARIABLES</a:t>
            </a:r>
            <a:endParaRPr lang="en-US" sz="1050" b="1" dirty="0">
              <a:solidFill>
                <a:srgbClr val="E76F1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anose="020B0609020204030204" pitchFamily="49" charset="0"/>
                <a:ea typeface="Consolas" panose="020B0609020204030204" pitchFamily="49" charset="-122"/>
                <a:cs typeface="Consolas" panose="020B0609020204030204" pitchFamily="49" charset="-120"/>
              </a:rPr>
              <a:t>PTS · FGM · FGA · FTM · FTA · OREB · DREB</a:t>
            </a:r>
            <a:endParaRPr lang="en-US" sz="1100" dirty="0">
              <a:solidFill>
                <a:srgbClr val="1F2937"/>
              </a:solidFill>
              <a:latin typeface="Consolas" panose="020B0609020204030204" pitchFamily="49" charset="0"/>
              <a:ea typeface="Consolas" panose="020B0609020204030204" pitchFamily="49" charset="-122"/>
              <a:cs typeface="Consolas" panose="020B0609020204030204" pitchFamily="49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anose="020B0609020204030204" pitchFamily="49" charset="0"/>
                <a:ea typeface="Consolas" panose="020B0609020204030204" pitchFamily="49" charset="-122"/>
                <a:cs typeface="Consolas" panose="020B0609020204030204" pitchFamily="49" charset="-120"/>
              </a:rPr>
              <a:t>AST · STL · BLK · TOV · PF · MIN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035040" y="1508760"/>
            <a:ext cx="5577840" cy="1874520"/>
          </a:xfrm>
          <a:prstGeom prst="rect">
            <a:avLst/>
          </a:prstGeom>
          <a:solidFill>
            <a:srgbClr val="0B1F3A"/>
          </a:solidFill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355080" y="164592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4A8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 OF ANALYSIS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55080" y="1965960"/>
            <a:ext cx="49377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Player-Season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6355080" y="2697480"/>
            <a:ext cx="49377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9D4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row = one player in one season. Regular-season stats are inputs; playoff stats define the target only.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035040" y="3611880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76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CURRENT PROGRESS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035040" y="4005072"/>
            <a:ext cx="292608" cy="292608"/>
          </a:xfrm>
          <a:prstGeom prst="ellipse">
            <a:avLst/>
          </a:prstGeom>
          <a:solidFill>
            <a:srgbClr val="E76F1E"/>
          </a:solidFill>
          <a:ln w="19050">
            <a:solidFill>
              <a:srgbClr val="E76F1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35040" y="3977640"/>
            <a:ext cx="29260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446520" y="3968496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Box-score variables identified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035040" y="4462272"/>
            <a:ext cx="292608" cy="292608"/>
          </a:xfrm>
          <a:prstGeom prst="ellipse">
            <a:avLst/>
          </a:prstGeom>
          <a:solidFill>
            <a:srgbClr val="E76F1E"/>
          </a:solidFill>
          <a:ln w="19050">
            <a:solidFill>
              <a:srgbClr val="E76F1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35040" y="4434840"/>
            <a:ext cx="29260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446520" y="4425696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Game Score formula validated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035040" y="4919472"/>
            <a:ext cx="292608" cy="292608"/>
          </a:xfrm>
          <a:prstGeom prst="ellipse">
            <a:avLst/>
          </a:prstGeom>
          <a:solidFill>
            <a:srgbClr val="E76F1E"/>
          </a:solidFill>
          <a:ln w="19050">
            <a:solidFill>
              <a:srgbClr val="E76F1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35040" y="4892040"/>
            <a:ext cx="29260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446520" y="4882896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nba_api endpoints scoped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035040" y="537667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1F3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46520" y="5340096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Bulk scraping &amp; caching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035040" y="583387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1F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46520" y="5797296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Player-season aggregation pipeline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</p:spPr>
      </p:sp>
      <p:sp>
        <p:nvSpPr>
          <p:cNvPr id="3" name="Shape 1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76F1E"/>
          </a:solidFill>
        </p:spPr>
      </p:sp>
      <p:sp>
        <p:nvSpPr>
          <p:cNvPr id="4" name="Shape 2"/>
          <p:cNvSpPr/>
          <p:nvPr/>
        </p:nvSpPr>
        <p:spPr>
          <a:xfrm>
            <a:off x="548640" y="365760"/>
            <a:ext cx="457200" cy="457200"/>
          </a:xfrm>
          <a:prstGeom prst="ellipse">
            <a:avLst/>
          </a:prstGeom>
          <a:solidFill>
            <a:srgbClr val="E76F1E"/>
          </a:solidFill>
        </p:spPr>
      </p:sp>
      <p:sp>
        <p:nvSpPr>
          <p:cNvPr id="5" name="Text 3"/>
          <p:cNvSpPr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3474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4A8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METRIC  •  TARGET VARIABLE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43000" y="56692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Hollinger Game Score &amp; the Decline Label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653796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Predicting NBA Playoff Underperformance from Regular-Season Statistics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72800" y="653796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/ 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508760"/>
            <a:ext cx="6858000" cy="2331720"/>
          </a:xfrm>
          <a:prstGeom prst="rect">
            <a:avLst/>
          </a:prstGeom>
          <a:solidFill>
            <a:srgbClr val="0B1F3A"/>
          </a:solidFill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1737360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4A8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PRIMARY METRIC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011680"/>
            <a:ext cx="6126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Hollinger Game Score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914400" y="2606040"/>
            <a:ext cx="6126480" cy="10972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E76F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2715768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76F1E"/>
                </a:solidFill>
                <a:latin typeface="Consolas" panose="020B0609020204030204" pitchFamily="49" charset="0"/>
                <a:ea typeface="Consolas" panose="020B0609020204030204" pitchFamily="49" charset="-122"/>
                <a:cs typeface="Consolas" panose="020B0609020204030204" pitchFamily="49" charset="-120"/>
              </a:rPr>
              <a:t>GS =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828800" y="2679192"/>
            <a:ext cx="516636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49" charset="0"/>
                <a:ea typeface="Consolas" panose="020B0609020204030204" pitchFamily="49" charset="-122"/>
                <a:cs typeface="Consolas" panose="020B0609020204030204" pitchFamily="49" charset="-120"/>
              </a:rPr>
              <a:t>PTS + 0.4·FGM − 0.7·FGA − 0.4·(FTA−FTM) + 0.7·OREB + 0.3·DREB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49" charset="0"/>
                <a:ea typeface="Consolas" panose="020B0609020204030204" pitchFamily="49" charset="-122"/>
                <a:cs typeface="Consolas" panose="020B0609020204030204" pitchFamily="49" charset="-120"/>
              </a:rPr>
              <a:t>+ STL + 0.7·AST + 0.7·BLK − 0.4·PF − TOV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21640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4297680"/>
            <a:ext cx="502920" cy="502920"/>
          </a:xfrm>
          <a:prstGeom prst="ellipse">
            <a:avLst/>
          </a:prstGeom>
          <a:solidFill>
            <a:srgbClr val="FCE9D7"/>
          </a:solidFill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389120"/>
            <a:ext cx="320040" cy="32004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22960" y="4892040"/>
            <a:ext cx="1615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Computed from Box Scores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22960" y="5349240"/>
            <a:ext cx="1615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from raw stats — not a pre-packaged advanced metric.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895600" y="4023360"/>
            <a:ext cx="21640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169920" y="4297680"/>
            <a:ext cx="502920" cy="502920"/>
          </a:xfrm>
          <a:prstGeom prst="ellipse">
            <a:avLst/>
          </a:prstGeom>
          <a:solidFill>
            <a:srgbClr val="FCE9D7"/>
          </a:solidFill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360" y="4389120"/>
            <a:ext cx="320040" cy="32004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169920" y="4892040"/>
            <a:ext cx="1615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Transparent &amp; Interpretable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3169920" y="5349240"/>
            <a:ext cx="1615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coefficient maps to an observable basketball action.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5242560" y="4023360"/>
            <a:ext cx="21640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5516880" y="4297680"/>
            <a:ext cx="502920" cy="502920"/>
          </a:xfrm>
          <a:prstGeom prst="ellipse">
            <a:avLst/>
          </a:prstGeom>
          <a:solidFill>
            <a:srgbClr val="FCE9D7"/>
          </a:solidFill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8320" y="4389120"/>
            <a:ext cx="320040" cy="32004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5516880" y="4892040"/>
            <a:ext cx="1615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PIE as Benchmark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5516880" y="5349240"/>
            <a:ext cx="1615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 Game-Score-based labels against the official NBA PIE.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7726680" y="1508760"/>
            <a:ext cx="393192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7726680" y="1508760"/>
            <a:ext cx="3931920" cy="548640"/>
          </a:xfrm>
          <a:prstGeom prst="rect">
            <a:avLst/>
          </a:prstGeom>
          <a:solidFill>
            <a:srgbClr val="E76F1E"/>
          </a:solidFill>
        </p:spPr>
      </p:sp>
      <p:sp>
        <p:nvSpPr>
          <p:cNvPr id="33" name="Text 28"/>
          <p:cNvSpPr/>
          <p:nvPr/>
        </p:nvSpPr>
        <p:spPr>
          <a:xfrm>
            <a:off x="8001000" y="155448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 VARIABLE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8001000" y="219456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Underperformance Label</a:t>
            </a:r>
            <a:endParaRPr lang="en-US" sz="1600" dirty="0"/>
          </a:p>
        </p:txBody>
      </p:sp>
      <p:sp>
        <p:nvSpPr>
          <p:cNvPr id="35" name="Shape 30"/>
          <p:cNvSpPr/>
          <p:nvPr/>
        </p:nvSpPr>
        <p:spPr>
          <a:xfrm>
            <a:off x="8001000" y="2697480"/>
            <a:ext cx="731520" cy="457200"/>
          </a:xfrm>
          <a:prstGeom prst="rect">
            <a:avLst/>
          </a:prstGeom>
          <a:solidFill>
            <a:srgbClr val="0B1F3A"/>
          </a:solidFill>
        </p:spPr>
      </p:sp>
      <p:sp>
        <p:nvSpPr>
          <p:cNvPr id="36" name="Text 31"/>
          <p:cNvSpPr/>
          <p:nvPr/>
        </p:nvSpPr>
        <p:spPr>
          <a:xfrm>
            <a:off x="8001000" y="269748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76F1E"/>
                </a:solidFill>
                <a:latin typeface="Consolas" panose="020B0609020204030204" pitchFamily="49" charset="0"/>
                <a:ea typeface="Consolas" panose="020B0609020204030204" pitchFamily="49" charset="-122"/>
                <a:cs typeface="Consolas" panose="020B0609020204030204" pitchFamily="49" charset="-120"/>
              </a:rPr>
              <a:t>y = 1</a:t>
            </a:r>
            <a:endParaRPr lang="en-US" sz="1600" dirty="0"/>
          </a:p>
        </p:txBody>
      </p:sp>
      <p:sp>
        <p:nvSpPr>
          <p:cNvPr id="37" name="Text 32"/>
          <p:cNvSpPr/>
          <p:nvPr/>
        </p:nvSpPr>
        <p:spPr>
          <a:xfrm>
            <a:off x="8823960" y="269748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Playoff GS  ≤  Reg-season GS  −  threshold</a:t>
            </a:r>
            <a:endParaRPr lang="en-US" sz="1100" dirty="0"/>
          </a:p>
        </p:txBody>
      </p:sp>
      <p:sp>
        <p:nvSpPr>
          <p:cNvPr id="38" name="Shape 33"/>
          <p:cNvSpPr/>
          <p:nvPr/>
        </p:nvSpPr>
        <p:spPr>
          <a:xfrm>
            <a:off x="8001000" y="3246120"/>
            <a:ext cx="731520" cy="457200"/>
          </a:xfrm>
          <a:prstGeom prst="rect">
            <a:avLst/>
          </a:prstGeom>
          <a:solidFill>
            <a:srgbClr val="E5E0D6"/>
          </a:solidFill>
        </p:spPr>
      </p:sp>
      <p:sp>
        <p:nvSpPr>
          <p:cNvPr id="39" name="Text 34"/>
          <p:cNvSpPr/>
          <p:nvPr/>
        </p:nvSpPr>
        <p:spPr>
          <a:xfrm>
            <a:off x="8001000" y="324612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onsolas" panose="020B0609020204030204" pitchFamily="49" charset="0"/>
                <a:ea typeface="Consolas" panose="020B0609020204030204" pitchFamily="49" charset="-122"/>
                <a:cs typeface="Consolas" panose="020B0609020204030204" pitchFamily="49" charset="-120"/>
              </a:rPr>
              <a:t>y = 0</a:t>
            </a:r>
            <a:endParaRPr lang="en-US" sz="1600" dirty="0"/>
          </a:p>
        </p:txBody>
      </p:sp>
      <p:sp>
        <p:nvSpPr>
          <p:cNvPr id="40" name="Text 35"/>
          <p:cNvSpPr/>
          <p:nvPr/>
        </p:nvSpPr>
        <p:spPr>
          <a:xfrm>
            <a:off x="8823960" y="324612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Player held or improved performance</a:t>
            </a:r>
            <a:endParaRPr lang="en-US" sz="1100" dirty="0"/>
          </a:p>
        </p:txBody>
      </p:sp>
      <p:sp>
        <p:nvSpPr>
          <p:cNvPr id="41" name="Shape 36"/>
          <p:cNvSpPr/>
          <p:nvPr/>
        </p:nvSpPr>
        <p:spPr>
          <a:xfrm>
            <a:off x="8001000" y="3886200"/>
            <a:ext cx="3383280" cy="0"/>
          </a:xfrm>
          <a:prstGeom prst="line">
            <a:avLst/>
          </a:prstGeom>
          <a:noFill/>
          <a:ln w="12700">
            <a:solidFill>
              <a:srgbClr val="E5E0D6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8001000" y="402336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76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RECOMMENDED THRESHOLD</a:t>
            </a:r>
            <a:endParaRPr lang="en-US" sz="1000" dirty="0"/>
          </a:p>
        </p:txBody>
      </p:sp>
      <p:sp>
        <p:nvSpPr>
          <p:cNvPr id="43" name="Text 38"/>
          <p:cNvSpPr/>
          <p:nvPr/>
        </p:nvSpPr>
        <p:spPr>
          <a:xfrm>
            <a:off x="8001000" y="4297680"/>
            <a:ext cx="33832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B1F3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1.0</a:t>
            </a:r>
            <a:endParaRPr lang="en-US" sz="5600" dirty="0"/>
          </a:p>
        </p:txBody>
      </p:sp>
      <p:sp>
        <p:nvSpPr>
          <p:cNvPr id="44" name="Text 39"/>
          <p:cNvSpPr/>
          <p:nvPr/>
        </p:nvSpPr>
        <p:spPr>
          <a:xfrm>
            <a:off x="8001000" y="507492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Game Score points</a:t>
            </a:r>
            <a:endParaRPr lang="en-US" sz="1100" dirty="0"/>
          </a:p>
        </p:txBody>
      </p:sp>
      <p:sp>
        <p:nvSpPr>
          <p:cNvPr id="45" name="Text 40"/>
          <p:cNvSpPr/>
          <p:nvPr/>
        </p:nvSpPr>
        <p:spPr>
          <a:xfrm>
            <a:off x="8001000" y="5394960"/>
            <a:ext cx="33832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Avoids labeling small, noisy differences as real decline — adjustable during analysis.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</p:spPr>
      </p:sp>
      <p:sp>
        <p:nvSpPr>
          <p:cNvPr id="3" name="Shape 1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76F1E"/>
          </a:solidFill>
        </p:spPr>
      </p:sp>
      <p:sp>
        <p:nvSpPr>
          <p:cNvPr id="4" name="Shape 2"/>
          <p:cNvSpPr/>
          <p:nvPr/>
        </p:nvSpPr>
        <p:spPr>
          <a:xfrm>
            <a:off x="548640" y="365760"/>
            <a:ext cx="457200" cy="457200"/>
          </a:xfrm>
          <a:prstGeom prst="ellipse">
            <a:avLst/>
          </a:prstGeom>
          <a:solidFill>
            <a:srgbClr val="E76F1E"/>
          </a:solidFill>
        </p:spPr>
      </p:sp>
      <p:sp>
        <p:nvSpPr>
          <p:cNvPr id="5" name="Text 3"/>
          <p:cNvSpPr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3474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4A8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EDA  •  FEATURE ENGINEERING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43000" y="56692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Exploring Patterns &amp; Designing Predictors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653796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Predicting NBA Playoff Underperformance from Regular-Season Statistics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72800" y="653796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/ 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508760"/>
            <a:ext cx="5852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76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EDA  —  Game Score Change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1801368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HK" dirty="0">
                <a:sym typeface="+mn-ea"/>
              </a:rPr>
              <a:t>Playoff Game Score Change Plot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48640" y="5029200"/>
            <a:ext cx="5852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76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Main Finding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5303520"/>
            <a:ext cx="4699635" cy="1221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altLang="zh-HK" sz="1100" dirty="0">
                <a:sym typeface="+mn-ea"/>
              </a:rPr>
              <a:t>A decline threshold of -1.0 Game Score point identifies meaningful playoff underperformance.</a:t>
            </a:r>
            <a:endParaRPr lang="en-US" altLang="zh-HK" sz="1100" dirty="0"/>
          </a:p>
          <a:p>
            <a:pPr marL="342900" indent="-342900">
              <a:buSzPct val="100000"/>
              <a:buChar char="•"/>
            </a:pPr>
            <a:r>
              <a:rPr lang="en-US" altLang="zh-HK" sz="1100" dirty="0">
                <a:sym typeface="+mn-ea"/>
              </a:rPr>
              <a:t>Extreme left-tail cases suggest the need to control for injuries, role changes, and small playoff samples.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675120" y="1508760"/>
            <a:ext cx="4937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76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GROUPS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675120" y="180136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Seven families of predictors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6675120" y="2286000"/>
            <a:ext cx="2377440" cy="1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675120" y="2286000"/>
            <a:ext cx="2377440" cy="64008"/>
          </a:xfrm>
          <a:prstGeom prst="rect">
            <a:avLst/>
          </a:prstGeom>
          <a:solidFill>
            <a:srgbClr val="E76F1E"/>
          </a:solidFill>
        </p:spPr>
      </p:sp>
      <p:sp>
        <p:nvSpPr>
          <p:cNvPr id="20" name="Text 17"/>
          <p:cNvSpPr/>
          <p:nvPr/>
        </p:nvSpPr>
        <p:spPr>
          <a:xfrm>
            <a:off x="6858000" y="246888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Scoring Volume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858000" y="2852928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onsolas" panose="020B0609020204030204" pitchFamily="49" charset="0"/>
                <a:ea typeface="Consolas" panose="020B0609020204030204" pitchFamily="49" charset="-122"/>
                <a:cs typeface="Consolas" panose="020B0609020204030204" pitchFamily="49" charset="-120"/>
              </a:rPr>
              <a:t>PPG · FGA · 3PA · FTA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9235440" y="2286000"/>
            <a:ext cx="2377440" cy="1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9235440" y="2286000"/>
            <a:ext cx="2377440" cy="64008"/>
          </a:xfrm>
          <a:prstGeom prst="rect">
            <a:avLst/>
          </a:prstGeom>
          <a:solidFill>
            <a:srgbClr val="E76F1E"/>
          </a:solidFill>
        </p:spPr>
      </p:sp>
      <p:sp>
        <p:nvSpPr>
          <p:cNvPr id="24" name="Text 21"/>
          <p:cNvSpPr/>
          <p:nvPr/>
        </p:nvSpPr>
        <p:spPr>
          <a:xfrm>
            <a:off x="9418320" y="246888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Efficiency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9418320" y="2852928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onsolas" panose="020B0609020204030204" pitchFamily="49" charset="0"/>
                <a:ea typeface="Consolas" panose="020B0609020204030204" pitchFamily="49" charset="-122"/>
                <a:cs typeface="Consolas" panose="020B0609020204030204" pitchFamily="49" charset="-120"/>
              </a:rPr>
              <a:t>FG% · 3P% · FT% · eFG% · TS%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675120" y="3456000"/>
            <a:ext cx="2377440" cy="1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675120" y="3456000"/>
            <a:ext cx="2377440" cy="64008"/>
          </a:xfrm>
          <a:prstGeom prst="rect">
            <a:avLst/>
          </a:prstGeom>
          <a:solidFill>
            <a:srgbClr val="E76F1E"/>
          </a:solidFill>
        </p:spPr>
      </p:sp>
      <p:sp>
        <p:nvSpPr>
          <p:cNvPr id="28" name="Text 25"/>
          <p:cNvSpPr/>
          <p:nvPr/>
        </p:nvSpPr>
        <p:spPr>
          <a:xfrm>
            <a:off x="6858000" y="363888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Role &amp; Minutes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858000" y="4022928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onsolas" panose="020B0609020204030204" pitchFamily="49" charset="0"/>
                <a:ea typeface="Consolas" panose="020B0609020204030204" pitchFamily="49" charset="-122"/>
                <a:cs typeface="Consolas" panose="020B0609020204030204" pitchFamily="49" charset="-120"/>
              </a:rPr>
              <a:t>MPG · GS · GS-per-minute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9235440" y="3456000"/>
            <a:ext cx="2377440" cy="1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9235440" y="3456000"/>
            <a:ext cx="2377440" cy="64008"/>
          </a:xfrm>
          <a:prstGeom prst="rect">
            <a:avLst/>
          </a:prstGeom>
          <a:solidFill>
            <a:srgbClr val="E76F1E"/>
          </a:solidFill>
        </p:spPr>
      </p:sp>
      <p:sp>
        <p:nvSpPr>
          <p:cNvPr id="32" name="Text 29"/>
          <p:cNvSpPr/>
          <p:nvPr/>
        </p:nvSpPr>
        <p:spPr>
          <a:xfrm>
            <a:off x="9418320" y="363888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Usage Proxy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9418320" y="4022928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onsolas" panose="020B0609020204030204" pitchFamily="49" charset="0"/>
                <a:ea typeface="Consolas" panose="020B0609020204030204" pitchFamily="49" charset="-122"/>
                <a:cs typeface="Consolas" panose="020B0609020204030204" pitchFamily="49" charset="-120"/>
              </a:rPr>
              <a:t>FGA + 0.44·FTA + TOV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675120" y="4626000"/>
            <a:ext cx="2377440" cy="1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6675120" y="4626000"/>
            <a:ext cx="2377440" cy="64008"/>
          </a:xfrm>
          <a:prstGeom prst="rect">
            <a:avLst/>
          </a:prstGeom>
          <a:solidFill>
            <a:srgbClr val="E76F1E"/>
          </a:solidFill>
        </p:spPr>
      </p:sp>
      <p:sp>
        <p:nvSpPr>
          <p:cNvPr id="36" name="Text 33"/>
          <p:cNvSpPr/>
          <p:nvPr/>
        </p:nvSpPr>
        <p:spPr>
          <a:xfrm>
            <a:off x="6858000" y="480888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All-Around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6858000" y="5192928"/>
            <a:ext cx="2210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onsolas" panose="020B0609020204030204" pitchFamily="49" charset="0"/>
                <a:ea typeface="Consolas" panose="020B0609020204030204" pitchFamily="49" charset="-122"/>
                <a:cs typeface="Consolas" panose="020B0609020204030204" pitchFamily="49" charset="-120"/>
              </a:rPr>
              <a:t>REB · AST · STL · BLK · TOV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9235440" y="4626000"/>
            <a:ext cx="2377440" cy="1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9235440" y="4626000"/>
            <a:ext cx="2377440" cy="64008"/>
          </a:xfrm>
          <a:prstGeom prst="rect">
            <a:avLst/>
          </a:prstGeom>
          <a:solidFill>
            <a:srgbClr val="E76F1E"/>
          </a:solidFill>
        </p:spPr>
      </p:sp>
      <p:sp>
        <p:nvSpPr>
          <p:cNvPr id="40" name="Text 37"/>
          <p:cNvSpPr/>
          <p:nvPr/>
        </p:nvSpPr>
        <p:spPr>
          <a:xfrm>
            <a:off x="9418320" y="480888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Team Context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9418320" y="5192928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onsolas" panose="020B0609020204030204" pitchFamily="49" charset="0"/>
                <a:ea typeface="Consolas" panose="020B0609020204030204" pitchFamily="49" charset="-122"/>
                <a:cs typeface="Consolas" panose="020B0609020204030204" pitchFamily="49" charset="-120"/>
              </a:rPr>
              <a:t>Win % · Seed · ORtg / DRtg</a:t>
            </a:r>
            <a:endParaRPr lang="en-US" sz="1000" dirty="0"/>
          </a:p>
        </p:txBody>
      </p:sp>
      <p:pic>
        <p:nvPicPr>
          <p:cNvPr id="43" name="圖片 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67255"/>
            <a:ext cx="4495800" cy="2367280"/>
          </a:xfrm>
          <a:prstGeom prst="rect">
            <a:avLst/>
          </a:prstGeom>
        </p:spPr>
      </p:pic>
      <p:sp>
        <p:nvSpPr>
          <p:cNvPr id="100" name="Opponent Strength Card"/>
          <p:cNvSpPr/>
          <p:nvPr/>
        </p:nvSpPr>
        <p:spPr>
          <a:xfrm>
            <a:off x="6675120" y="5820000"/>
            <a:ext cx="4937760" cy="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1" name="Opponent Strength Accent"/>
          <p:cNvSpPr/>
          <p:nvPr/>
        </p:nvSpPr>
        <p:spPr>
          <a:xfrm>
            <a:off x="6675120" y="5820000"/>
            <a:ext cx="4937760" cy="64008"/>
          </a:xfrm>
          <a:prstGeom prst="rect">
            <a:avLst/>
          </a:prstGeom>
          <a:solidFill>
            <a:srgbClr val="E76F1E"/>
          </a:solidFill>
        </p:spPr>
      </p:sp>
      <p:sp>
        <p:nvSpPr>
          <p:cNvPr id="102" name="Opponent Strength Title"/>
          <p:cNvSpPr/>
          <p:nvPr/>
        </p:nvSpPr>
        <p:spPr>
          <a:xfrm>
            <a:off x="6858000" y="5970000"/>
            <a:ext cx="2300000" cy="38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Opponent Strength</a:t>
            </a:r>
            <a:endParaRPr lang="en-US" sz="1300" dirty="0"/>
          </a:p>
        </p:txBody>
      </p:sp>
      <p:sp>
        <p:nvSpPr>
          <p:cNvPr id="103" name="Opponent Strength Value"/>
          <p:cNvSpPr/>
          <p:nvPr/>
        </p:nvSpPr>
        <p:spPr>
          <a:xfrm>
            <a:off x="9100000" y="5970000"/>
            <a:ext cx="2480000" cy="38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onsolas" panose="020B0609020204030204" pitchFamily="49" charset="0"/>
                <a:ea typeface="Consolas" panose="020B0609020204030204" pitchFamily="49" charset="-122"/>
                <a:cs typeface="Consolas" panose="020B0609020204030204" pitchFamily="49" charset="-120"/>
              </a:rPr>
              <a:t>Opp DRtg · Opp Pace · Top-10 defender minutes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</p:spPr>
      </p:sp>
      <p:sp>
        <p:nvSpPr>
          <p:cNvPr id="3" name="Shape 1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76F1E"/>
          </a:solidFill>
        </p:spPr>
      </p:sp>
      <p:sp>
        <p:nvSpPr>
          <p:cNvPr id="4" name="Shape 2"/>
          <p:cNvSpPr/>
          <p:nvPr/>
        </p:nvSpPr>
        <p:spPr>
          <a:xfrm>
            <a:off x="548640" y="365760"/>
            <a:ext cx="457200" cy="457200"/>
          </a:xfrm>
          <a:prstGeom prst="ellipse">
            <a:avLst/>
          </a:prstGeom>
          <a:solidFill>
            <a:srgbClr val="E76F1E"/>
          </a:solidFill>
        </p:spPr>
      </p:sp>
      <p:sp>
        <p:nvSpPr>
          <p:cNvPr id="5" name="Text 3"/>
          <p:cNvSpPr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3474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4A8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MODELING  •  EVALUATION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43000" y="56692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Three Models, Recency Weights, Five Metrics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653796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Predicting NBA Playoff Underperformance from Regular-Season Statistics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72800" y="653796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/ 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508760"/>
            <a:ext cx="351525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508760"/>
            <a:ext cx="3515258" cy="384048"/>
          </a:xfrm>
          <a:prstGeom prst="rect">
            <a:avLst/>
          </a:prstGeom>
          <a:solidFill>
            <a:srgbClr val="0B1F3A"/>
          </a:solidFill>
        </p:spPr>
      </p:sp>
      <p:sp>
        <p:nvSpPr>
          <p:cNvPr id="12" name="Text 10"/>
          <p:cNvSpPr/>
          <p:nvPr/>
        </p:nvSpPr>
        <p:spPr>
          <a:xfrm>
            <a:off x="777240" y="1508760"/>
            <a:ext cx="305805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BASELINE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2011680"/>
            <a:ext cx="3058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Logistic Regression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" y="2514600"/>
            <a:ext cx="3058058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Interpretable coefficients; serves as the floor for performance comparisons.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38218" y="1508760"/>
            <a:ext cx="351525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38218" y="1508760"/>
            <a:ext cx="3515258" cy="384048"/>
          </a:xfrm>
          <a:prstGeom prst="rect">
            <a:avLst/>
          </a:prstGeom>
          <a:solidFill>
            <a:srgbClr val="0B1F3A"/>
          </a:solidFill>
        </p:spPr>
      </p:sp>
      <p:sp>
        <p:nvSpPr>
          <p:cNvPr id="17" name="Text 15"/>
          <p:cNvSpPr/>
          <p:nvPr/>
        </p:nvSpPr>
        <p:spPr>
          <a:xfrm>
            <a:off x="4566818" y="1508760"/>
            <a:ext cx="305805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NONLINEAR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66818" y="2011680"/>
            <a:ext cx="3058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Random Forest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66818" y="2514600"/>
            <a:ext cx="3058058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Captures interactions among role, efficiency, and scoring volume.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27797" y="1508760"/>
            <a:ext cx="351525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27797" y="1508760"/>
            <a:ext cx="3515258" cy="384048"/>
          </a:xfrm>
          <a:prstGeom prst="rect">
            <a:avLst/>
          </a:prstGeom>
          <a:solidFill>
            <a:srgbClr val="E76F1E"/>
          </a:solidFill>
        </p:spPr>
      </p:sp>
      <p:sp>
        <p:nvSpPr>
          <p:cNvPr id="22" name="Text 20"/>
          <p:cNvSpPr/>
          <p:nvPr/>
        </p:nvSpPr>
        <p:spPr>
          <a:xfrm>
            <a:off x="8356397" y="1508760"/>
            <a:ext cx="305805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PRIMARY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356397" y="2011680"/>
            <a:ext cx="3058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Gradient Boosting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356397" y="2514600"/>
            <a:ext cx="3058058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Often the strongest performer on structured tabular box-score data.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3749040"/>
            <a:ext cx="6766560" cy="2606040"/>
          </a:xfrm>
          <a:prstGeom prst="rect">
            <a:avLst/>
          </a:prstGeom>
          <a:solidFill>
            <a:srgbClr val="0B1F3A"/>
          </a:solidFill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77240" y="39319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4A8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STRATEGY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" y="420624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Historical seasons + recency weights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77240" y="475488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76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7240" y="502920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Older recent seasons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926080" y="475488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76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926080" y="502920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 recent completed season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74920" y="475488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76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74920" y="502920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Current regular season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77240" y="5623560"/>
            <a:ext cx="6400800" cy="5943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E76F1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5623560"/>
            <a:ext cx="6400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anose="020B0609020204030204" pitchFamily="49" charset="0"/>
                <a:ea typeface="Consolas" panose="020B0609020204030204" pitchFamily="49" charset="-122"/>
                <a:cs typeface="Consolas" panose="020B0609020204030204" pitchFamily="49" charset="-120"/>
              </a:rPr>
              <a:t>weight = α ^ years_ago     (α ≈ 0.8)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543800" y="3749040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76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EVALUATION METRICS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543800" y="4169664"/>
            <a:ext cx="164592" cy="164592"/>
          </a:xfrm>
          <a:prstGeom prst="ellipse">
            <a:avLst/>
          </a:prstGeom>
          <a:solidFill>
            <a:srgbClr val="E76F1E"/>
          </a:solidFill>
        </p:spPr>
      </p:sp>
      <p:sp>
        <p:nvSpPr>
          <p:cNvPr id="38" name="Text 36"/>
          <p:cNvSpPr/>
          <p:nvPr/>
        </p:nvSpPr>
        <p:spPr>
          <a:xfrm>
            <a:off x="7818120" y="411480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Accuracy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098280" y="411480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Overall correctness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543800" y="4590288"/>
            <a:ext cx="164592" cy="164592"/>
          </a:xfrm>
          <a:prstGeom prst="ellipse">
            <a:avLst/>
          </a:prstGeom>
          <a:solidFill>
            <a:srgbClr val="E76F1E"/>
          </a:solidFill>
        </p:spPr>
      </p:sp>
      <p:sp>
        <p:nvSpPr>
          <p:cNvPr id="41" name="Text 39"/>
          <p:cNvSpPr/>
          <p:nvPr/>
        </p:nvSpPr>
        <p:spPr>
          <a:xfrm>
            <a:off x="7818120" y="453542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098280" y="4535424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predicted decliners, how many actually declined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543800" y="5010912"/>
            <a:ext cx="164592" cy="164592"/>
          </a:xfrm>
          <a:prstGeom prst="ellipse">
            <a:avLst/>
          </a:prstGeom>
          <a:solidFill>
            <a:srgbClr val="E76F1E"/>
          </a:solidFill>
        </p:spPr>
      </p:sp>
      <p:sp>
        <p:nvSpPr>
          <p:cNvPr id="44" name="Text 42"/>
          <p:cNvSpPr/>
          <p:nvPr/>
        </p:nvSpPr>
        <p:spPr>
          <a:xfrm>
            <a:off x="7818120" y="495604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Recall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9098280" y="495604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true decliners, how many we caught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543800" y="5431536"/>
            <a:ext cx="164592" cy="164592"/>
          </a:xfrm>
          <a:prstGeom prst="ellipse">
            <a:avLst/>
          </a:prstGeom>
          <a:solidFill>
            <a:srgbClr val="E76F1E"/>
          </a:solidFill>
        </p:spPr>
      </p:sp>
      <p:sp>
        <p:nvSpPr>
          <p:cNvPr id="47" name="Text 45"/>
          <p:cNvSpPr/>
          <p:nvPr/>
        </p:nvSpPr>
        <p:spPr>
          <a:xfrm>
            <a:off x="7818120" y="5376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F1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9098280" y="5376672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Balance of precision &amp; recall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543800" y="5852160"/>
            <a:ext cx="164592" cy="164592"/>
          </a:xfrm>
          <a:prstGeom prst="ellipse">
            <a:avLst/>
          </a:prstGeom>
          <a:solidFill>
            <a:srgbClr val="E76F1E"/>
          </a:solidFill>
        </p:spPr>
      </p:sp>
      <p:sp>
        <p:nvSpPr>
          <p:cNvPr id="50" name="Text 48"/>
          <p:cNvSpPr/>
          <p:nvPr/>
        </p:nvSpPr>
        <p:spPr>
          <a:xfrm>
            <a:off x="7818120" y="579729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ROC-AUC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9098280" y="5797296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Ranking quality across thresholds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</p:spPr>
      </p:sp>
      <p:sp>
        <p:nvSpPr>
          <p:cNvPr id="3" name="Shape 1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76F1E"/>
          </a:solidFill>
        </p:spPr>
      </p:sp>
      <p:sp>
        <p:nvSpPr>
          <p:cNvPr id="4" name="Shape 2"/>
          <p:cNvSpPr/>
          <p:nvPr/>
        </p:nvSpPr>
        <p:spPr>
          <a:xfrm>
            <a:off x="548640" y="365760"/>
            <a:ext cx="457200" cy="457200"/>
          </a:xfrm>
          <a:prstGeom prst="ellipse">
            <a:avLst/>
          </a:prstGeom>
          <a:solidFill>
            <a:srgbClr val="E76F1E"/>
          </a:solidFill>
        </p:spPr>
      </p:sp>
      <p:sp>
        <p:nvSpPr>
          <p:cNvPr id="5" name="Text 3"/>
          <p:cNvSpPr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7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3474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4A8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TIMELINE  •  CHALLENGES  •  NEXT STEPS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43000" y="56692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From Data to Final Report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653796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Predicting NBA Playoff Underperformance from Regular-Season Statistics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72800" y="653796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 / 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2112264"/>
            <a:ext cx="10911535" cy="45720"/>
          </a:xfrm>
          <a:prstGeom prst="rect">
            <a:avLst/>
          </a:prstGeom>
          <a:solidFill>
            <a:srgbClr val="E5E0D6"/>
          </a:solidFill>
        </p:spPr>
      </p:sp>
      <p:sp>
        <p:nvSpPr>
          <p:cNvPr id="11" name="Shape 9"/>
          <p:cNvSpPr/>
          <p:nvPr/>
        </p:nvSpPr>
        <p:spPr>
          <a:xfrm>
            <a:off x="411480" y="1920240"/>
            <a:ext cx="457200" cy="457200"/>
          </a:xfrm>
          <a:prstGeom prst="ellipse">
            <a:avLst/>
          </a:prstGeom>
          <a:solidFill>
            <a:srgbClr val="E76F1E"/>
          </a:solidFill>
          <a:ln w="19050">
            <a:solidFill>
              <a:srgbClr val="E76F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9202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0" y="24688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Collect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-137160" y="272491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Game logs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30069" y="1920240"/>
            <a:ext cx="457200" cy="457200"/>
          </a:xfrm>
          <a:prstGeom prst="ellipse">
            <a:avLst/>
          </a:prstGeom>
          <a:solidFill>
            <a:srgbClr val="E76F1E"/>
          </a:solidFill>
          <a:ln w="19050">
            <a:solidFill>
              <a:srgbClr val="E76F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30069" y="19202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818589" y="24688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81429" y="272491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Game Score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048658" y="1920240"/>
            <a:ext cx="457200" cy="457200"/>
          </a:xfrm>
          <a:prstGeom prst="ellipse">
            <a:avLst/>
          </a:prstGeom>
          <a:solidFill>
            <a:srgbClr val="0B1F3A"/>
          </a:solidFill>
          <a:ln w="19050">
            <a:solidFill>
              <a:srgbClr val="0B1F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48658" y="19202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37178" y="24688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Aggregate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00018" y="272491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Player-season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867248" y="192024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1F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67248" y="19202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55768" y="24688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Label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18608" y="272491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Decline + PIE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685837" y="192024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1F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5837" y="19202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274357" y="24688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37197" y="272491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Visualize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504426" y="192024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1F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04426" y="19202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092946" y="24688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955786" y="272491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1323015" y="192024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1F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323015" y="19202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911535" y="24688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774375" y="272491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report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362858" y="3017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E76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◆  YOU ARE HERE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8640" y="3657600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76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CHALLENGES &amp; MITIGATIONS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8640" y="3931920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Where the project gets hard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548640" y="4389120"/>
            <a:ext cx="6766560" cy="50292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507992"/>
            <a:ext cx="292608" cy="292608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1005840" y="448056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Small playoff sample size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3474720" y="4480560"/>
            <a:ext cx="274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3749040" y="4480560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multiple historical seasons; filter on minimum playoff minutes/games.</a:t>
            </a:r>
            <a:endParaRPr lang="en-US" sz="1100" dirty="0"/>
          </a:p>
        </p:txBody>
      </p:sp>
      <p:pic>
        <p:nvPicPr>
          <p:cNvPr id="47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010912"/>
            <a:ext cx="292608" cy="292608"/>
          </a:xfrm>
          <a:prstGeom prst="rect">
            <a:avLst/>
          </a:prstGeom>
        </p:spPr>
      </p:pic>
      <p:sp>
        <p:nvSpPr>
          <p:cNvPr id="48" name="Text 44"/>
          <p:cNvSpPr/>
          <p:nvPr/>
        </p:nvSpPr>
        <p:spPr>
          <a:xfrm>
            <a:off x="1005840" y="498348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Player development &amp; role change</a:t>
            </a:r>
            <a:endParaRPr lang="en-US" sz="1200" dirty="0"/>
          </a:p>
        </p:txBody>
      </p:sp>
      <p:sp>
        <p:nvSpPr>
          <p:cNvPr id="49" name="Text 45"/>
          <p:cNvSpPr/>
          <p:nvPr/>
        </p:nvSpPr>
        <p:spPr>
          <a:xfrm>
            <a:off x="3474720" y="4983480"/>
            <a:ext cx="274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50" name="Text 46"/>
          <p:cNvSpPr/>
          <p:nvPr/>
        </p:nvSpPr>
        <p:spPr>
          <a:xfrm>
            <a:off x="3749040" y="4983480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Player-season observations + recency-weighted training.</a:t>
            </a:r>
            <a:endParaRPr lang="en-US" sz="1100" dirty="0"/>
          </a:p>
        </p:txBody>
      </p:sp>
      <p:sp>
        <p:nvSpPr>
          <p:cNvPr id="51" name="Shape 47"/>
          <p:cNvSpPr/>
          <p:nvPr/>
        </p:nvSpPr>
        <p:spPr>
          <a:xfrm>
            <a:off x="548640" y="5394960"/>
            <a:ext cx="6766560" cy="50292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52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513832"/>
            <a:ext cx="292608" cy="292608"/>
          </a:xfrm>
          <a:prstGeom prst="rect">
            <a:avLst/>
          </a:prstGeom>
        </p:spPr>
      </p:pic>
      <p:sp>
        <p:nvSpPr>
          <p:cNvPr id="53" name="Text 48"/>
          <p:cNvSpPr/>
          <p:nvPr/>
        </p:nvSpPr>
        <p:spPr>
          <a:xfrm>
            <a:off x="1005840" y="548640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Injuries &amp; limited availability</a:t>
            </a:r>
            <a:endParaRPr lang="en-US" sz="1200" dirty="0"/>
          </a:p>
        </p:txBody>
      </p:sp>
      <p:sp>
        <p:nvSpPr>
          <p:cNvPr id="54" name="Text 49"/>
          <p:cNvSpPr/>
          <p:nvPr/>
        </p:nvSpPr>
        <p:spPr>
          <a:xfrm>
            <a:off x="3474720" y="5486400"/>
            <a:ext cx="274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55" name="Text 50"/>
          <p:cNvSpPr/>
          <p:nvPr/>
        </p:nvSpPr>
        <p:spPr>
          <a:xfrm>
            <a:off x="3749040" y="5486400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Apply minutes/games filters; document exclusions transparently.</a:t>
            </a:r>
            <a:endParaRPr lang="en-US" sz="1100" dirty="0"/>
          </a:p>
        </p:txBody>
      </p:sp>
      <p:pic>
        <p:nvPicPr>
          <p:cNvPr id="56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6016752"/>
            <a:ext cx="292608" cy="292608"/>
          </a:xfrm>
          <a:prstGeom prst="rect">
            <a:avLst/>
          </a:prstGeom>
        </p:spPr>
      </p:pic>
      <p:sp>
        <p:nvSpPr>
          <p:cNvPr id="57" name="Text 51"/>
          <p:cNvSpPr/>
          <p:nvPr/>
        </p:nvSpPr>
        <p:spPr>
          <a:xfrm>
            <a:off x="1005840" y="598932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leakage</a:t>
            </a:r>
            <a:endParaRPr lang="en-US" sz="1200" dirty="0"/>
          </a:p>
        </p:txBody>
      </p:sp>
      <p:sp>
        <p:nvSpPr>
          <p:cNvPr id="58" name="Text 52"/>
          <p:cNvSpPr/>
          <p:nvPr/>
        </p:nvSpPr>
        <p:spPr>
          <a:xfrm>
            <a:off x="3474720" y="5989320"/>
            <a:ext cx="274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59" name="Text 53"/>
          <p:cNvSpPr/>
          <p:nvPr/>
        </p:nvSpPr>
        <p:spPr>
          <a:xfrm>
            <a:off x="3749040" y="5989320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only regular-season inputs; playoff stats build the target only.</a:t>
            </a:r>
            <a:endParaRPr lang="en-US" sz="1100" dirty="0"/>
          </a:p>
        </p:txBody>
      </p:sp>
      <p:sp>
        <p:nvSpPr>
          <p:cNvPr id="60" name="Shape 54"/>
          <p:cNvSpPr/>
          <p:nvPr/>
        </p:nvSpPr>
        <p:spPr>
          <a:xfrm>
            <a:off x="7589520" y="3657600"/>
            <a:ext cx="4069080" cy="2743200"/>
          </a:xfrm>
          <a:prstGeom prst="rect">
            <a:avLst/>
          </a:prstGeom>
          <a:solidFill>
            <a:srgbClr val="0B1F3A"/>
          </a:solidFill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1" name="Text 55"/>
          <p:cNvSpPr/>
          <p:nvPr/>
        </p:nvSpPr>
        <p:spPr>
          <a:xfrm>
            <a:off x="7863840" y="3840480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4A8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NEXT 2 WEEKS</a:t>
            </a:r>
            <a:endParaRPr lang="en-US" sz="1100" dirty="0"/>
          </a:p>
        </p:txBody>
      </p:sp>
      <p:sp>
        <p:nvSpPr>
          <p:cNvPr id="62" name="Text 56"/>
          <p:cNvSpPr/>
          <p:nvPr/>
        </p:nvSpPr>
        <p:spPr>
          <a:xfrm>
            <a:off x="7863840" y="4114800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Immediate Next Steps</a:t>
            </a:r>
            <a:endParaRPr lang="en-US" sz="1800" dirty="0"/>
          </a:p>
        </p:txBody>
      </p:sp>
      <p:sp>
        <p:nvSpPr>
          <p:cNvPr id="63" name="Shape 57"/>
          <p:cNvSpPr/>
          <p:nvPr/>
        </p:nvSpPr>
        <p:spPr>
          <a:xfrm>
            <a:off x="7863840" y="4754880"/>
            <a:ext cx="292608" cy="292608"/>
          </a:xfrm>
          <a:prstGeom prst="ellipse">
            <a:avLst/>
          </a:prstGeom>
          <a:solidFill>
            <a:srgbClr val="E76F1E"/>
          </a:solidFill>
        </p:spPr>
      </p:sp>
      <p:sp>
        <p:nvSpPr>
          <p:cNvPr id="64" name="Text 58"/>
          <p:cNvSpPr/>
          <p:nvPr/>
        </p:nvSpPr>
        <p:spPr>
          <a:xfrm>
            <a:off x="7863840" y="475488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65" name="Text 59"/>
          <p:cNvSpPr/>
          <p:nvPr/>
        </p:nvSpPr>
        <p:spPr>
          <a:xfrm>
            <a:off x="8275320" y="4709160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Finish bulk scrape &amp; local cache of player game logs</a:t>
            </a:r>
            <a:endParaRPr lang="en-US" sz="1150" dirty="0"/>
          </a:p>
        </p:txBody>
      </p:sp>
      <p:sp>
        <p:nvSpPr>
          <p:cNvPr id="66" name="Shape 60"/>
          <p:cNvSpPr/>
          <p:nvPr/>
        </p:nvSpPr>
        <p:spPr>
          <a:xfrm>
            <a:off x="7863840" y="5166360"/>
            <a:ext cx="292608" cy="292608"/>
          </a:xfrm>
          <a:prstGeom prst="ellipse">
            <a:avLst/>
          </a:prstGeom>
          <a:solidFill>
            <a:srgbClr val="E76F1E"/>
          </a:solidFill>
        </p:spPr>
      </p:sp>
      <p:sp>
        <p:nvSpPr>
          <p:cNvPr id="67" name="Text 61"/>
          <p:cNvSpPr/>
          <p:nvPr/>
        </p:nvSpPr>
        <p:spPr>
          <a:xfrm>
            <a:off x="7863840" y="516636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68" name="Text 62"/>
          <p:cNvSpPr/>
          <p:nvPr/>
        </p:nvSpPr>
        <p:spPr>
          <a:xfrm>
            <a:off x="8275320" y="5120640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player-season aggregation pipeline</a:t>
            </a:r>
            <a:endParaRPr lang="en-US" sz="1150" dirty="0"/>
          </a:p>
        </p:txBody>
      </p:sp>
      <p:sp>
        <p:nvSpPr>
          <p:cNvPr id="69" name="Shape 63"/>
          <p:cNvSpPr/>
          <p:nvPr/>
        </p:nvSpPr>
        <p:spPr>
          <a:xfrm>
            <a:off x="7863840" y="5577840"/>
            <a:ext cx="292608" cy="292608"/>
          </a:xfrm>
          <a:prstGeom prst="ellipse">
            <a:avLst/>
          </a:prstGeom>
          <a:solidFill>
            <a:srgbClr val="E76F1E"/>
          </a:solidFill>
        </p:spPr>
      </p:sp>
      <p:sp>
        <p:nvSpPr>
          <p:cNvPr id="70" name="Text 64"/>
          <p:cNvSpPr/>
          <p:nvPr/>
        </p:nvSpPr>
        <p:spPr>
          <a:xfrm>
            <a:off x="7863840" y="557784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71" name="Text 65"/>
          <p:cNvSpPr/>
          <p:nvPr/>
        </p:nvSpPr>
        <p:spPr>
          <a:xfrm>
            <a:off x="8275320" y="5532120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 first underperformance label distribution</a:t>
            </a:r>
            <a:endParaRPr lang="en-US" sz="1150" dirty="0"/>
          </a:p>
        </p:txBody>
      </p:sp>
      <p:sp>
        <p:nvSpPr>
          <p:cNvPr id="72" name="Shape 66"/>
          <p:cNvSpPr/>
          <p:nvPr/>
        </p:nvSpPr>
        <p:spPr>
          <a:xfrm>
            <a:off x="7863840" y="5989320"/>
            <a:ext cx="292608" cy="292608"/>
          </a:xfrm>
          <a:prstGeom prst="ellipse">
            <a:avLst/>
          </a:prstGeom>
          <a:solidFill>
            <a:srgbClr val="E76F1E"/>
          </a:solidFill>
        </p:spPr>
      </p:sp>
      <p:sp>
        <p:nvSpPr>
          <p:cNvPr id="73" name="Text 67"/>
          <p:cNvSpPr/>
          <p:nvPr/>
        </p:nvSpPr>
        <p:spPr>
          <a:xfrm>
            <a:off x="7863840" y="598932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74" name="Text 68"/>
          <p:cNvSpPr/>
          <p:nvPr/>
        </p:nvSpPr>
        <p:spPr>
          <a:xfrm>
            <a:off x="8275320" y="5943600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 baseline Logistic Regression for sanity check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4925</Words>
  <Application>WPS 演示</Application>
  <PresentationFormat>On-screen Show (16:9)</PresentationFormat>
  <Paragraphs>366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3" baseType="lpstr">
      <vt:lpstr>Arial</vt:lpstr>
      <vt:lpstr>PMingLiU</vt:lpstr>
      <vt:lpstr>Wingdings</vt:lpstr>
      <vt:lpstr>Calibri</vt:lpstr>
      <vt:lpstr>Calibri</vt:lpstr>
      <vt:lpstr>Calibri</vt:lpstr>
      <vt:lpstr>Georgia</vt:lpstr>
      <vt:lpstr>Georgia</vt:lpstr>
      <vt:lpstr>Georgia</vt:lpstr>
      <vt:lpstr>Consolas</vt:lpstr>
      <vt:lpstr>Consolas</vt:lpstr>
      <vt:lpstr>Consolas</vt:lpstr>
      <vt:lpstr>微软雅黑</vt:lpstr>
      <vt:lpstr>宋体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NBA Playoff Underperformance</dc:title>
  <dc:creator>Course Project Proposal</dc:creator>
  <dc:subject>PptxGenJS Presentation</dc:subject>
  <cp:lastModifiedBy>Administrator</cp:lastModifiedBy>
  <cp:revision>3</cp:revision>
  <dcterms:created xsi:type="dcterms:W3CDTF">2026-05-05T09:21:00Z</dcterms:created>
  <dcterms:modified xsi:type="dcterms:W3CDTF">2026-05-05T10:45:26Z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3076-12.1.0.25862</vt:lpwstr>
  </property>
  <property fmtid="{D5CDD505-2E9C-101B-9397-08002B2CF9AE}" pid="3" name="ICV">
    <vt:lpwstr>13EDC5E53137403695CD7117D5484495_13</vt:lpwstr>
  </property>
</Properties>
</file>